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28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411480"/>
            <a:ext cx="11368735" cy="6035040"/>
          </a:xfrm>
          <a:prstGeom prst="rect">
            <a:avLst/>
          </a:prstGeom>
          <a:noFill/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ig_ben_t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502920"/>
            <a:ext cx="3931920" cy="5852160"/>
          </a:xfrm>
          <a:prstGeom prst="rect">
            <a:avLst/>
          </a:prstGeom>
        </p:spPr>
      </p:pic>
      <p:pic>
        <p:nvPicPr>
          <p:cNvPr id="6" name="Picture 5" descr="ibn_logo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731520"/>
            <a:ext cx="347472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1645920"/>
            <a:ext cx="6583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D4AF37"/>
                </a:solidFill>
                <a:latin typeface="Georgia"/>
              </a:defRPr>
            </a:pPr>
            <a:r>
              <a:t>INDIAN BUSINESS NETWORK PRESENTS</a:t>
            </a:r>
          </a:p>
          <a:p>
            <a:pPr>
              <a:spcAft>
                <a:spcPts val="1200"/>
              </a:spcAft>
              <a:defRPr sz="2800" b="1">
                <a:solidFill>
                  <a:srgbClr val="F3E5AB"/>
                </a:solidFill>
                <a:latin typeface="Georgia"/>
              </a:defRPr>
            </a:pPr>
            <a:r>
              <a:t>OMNICHANNEL MARKETING &amp;</a:t>
            </a:r>
            <a:br/>
            <a:r>
              <a:t>DIGITAL PLATFORM STRATEGY</a:t>
            </a:r>
          </a:p>
          <a:p>
            <a:pPr>
              <a:spcAft>
                <a:spcPts val="20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Mobile App • Official Website • LinkedIn • Facebook • Instagram • WhatsApp • Email Newsletter</a:t>
            </a:r>
            <a:br/>
            <a:r>
              <a:t>House of Commons, British Parliament • Oxford • Cambridge • Imperial College London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663440"/>
            <a:ext cx="6400800" cy="1097280"/>
          </a:xfrm>
          <a:prstGeom prst="roundRect">
            <a:avLst/>
          </a:prstGeom>
          <a:solidFill>
            <a:srgbClr val="0C1C3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6035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Calibri"/>
              </a:defRPr>
            </a:pPr>
            <a:r>
              <a:t>🏛️ 5–9 NOVEMBER 2026  •  🔒 STRICTLY LIMITED TO 100 GUESTS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A Multi-Touchpoint Promotion Strategy for Global Indian C-Suite Leadership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4AF37"/>
                </a:solidFill>
                <a:latin typeface="Georgia"/>
              </a:defRPr>
            </a:pPr>
            <a:r>
              <a:t>MOBILE APP STRATEGY (SCOPE ONLY)</a:t>
            </a:r>
          </a:p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Mobile App Strategy: iOS &amp; Android VIP Event Companion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645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2011680"/>
          </a:xfrm>
          <a:prstGeom prst="roundRect">
            <a:avLst/>
          </a:prstGeom>
          <a:solidFill>
            <a:srgbClr val="0C1C3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hield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029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8760" y="1783080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4AF37"/>
                </a:solidFill>
                <a:latin typeface="Georgia"/>
              </a:defRPr>
            </a:pPr>
            <a:r>
              <a:t>Parliament Security KYC</a:t>
            </a:r>
          </a:p>
          <a:p>
            <a:pPr>
              <a:defRPr sz="1100">
                <a:solidFill>
                  <a:srgbClr val="B4C3D7"/>
                </a:solidFill>
                <a:latin typeface="Calibri"/>
              </a:defRPr>
            </a:pPr>
            <a:r>
              <a:t>Pre-event identity and passport verification gateway to ensure seamless security clearance at the House of Commons Cromwell Green entrance.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obile_wa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76" y="1828800"/>
            <a:ext cx="50292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02936" y="1783080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Georgia"/>
              </a:defRPr>
            </a:pPr>
            <a:r>
              <a:t>Dynamic Pass &amp; Mobile Wallet</a:t>
            </a:r>
          </a:p>
          <a:p>
            <a:pPr>
              <a:defRPr sz="1100">
                <a:solidFill>
                  <a:srgbClr val="B4C3D7"/>
                </a:solidFill>
                <a:latin typeface="Calibri"/>
              </a:defRPr>
            </a:pPr>
            <a:r>
              <a:t>Anti-screenshot dynamic QR badge integrated with Apple Wallet and Google Wallet, automatically displaying near Westminster.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hield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2" y="1828800"/>
            <a:ext cx="502920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97112" y="1783080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3E5AB"/>
                </a:solidFill>
                <a:latin typeface="Georgia"/>
              </a:defRPr>
            </a:pPr>
            <a:r>
              <a:t>5-Day Logistics &amp; Transit GPS</a:t>
            </a:r>
          </a:p>
          <a:p>
            <a:pPr>
              <a:defRPr sz="1100">
                <a:solidFill>
                  <a:srgbClr val="B4C3D7"/>
                </a:solidFill>
                <a:latin typeface="Calibri"/>
              </a:defRPr>
            </a:pPr>
            <a:r>
              <a:t>Hour-by-hour interactive agenda, dress code advisories, and live luxury coach tracking for transfers to Oxford and Cambridge.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3328416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obile_wa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14800"/>
            <a:ext cx="502920" cy="502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08760" y="4069080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Georgia"/>
              </a:defRPr>
            </a:pPr>
            <a:r>
              <a:t>Compliant B2B Billing</a:t>
            </a:r>
          </a:p>
          <a:p>
            <a:pPr>
              <a:defRPr sz="1100">
                <a:solidFill>
                  <a:srgbClr val="B4C3D7"/>
                </a:solidFill>
                <a:latin typeface="Calibri"/>
              </a:defRPr>
            </a:pPr>
            <a:r>
              <a:t>Multi-currency checkout (GBP, USD, EUR, INR) with instant corporate tax invoices for leadership programme fees.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5696" y="3931920"/>
            <a:ext cx="3328416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hield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576" y="4114800"/>
            <a:ext cx="502920" cy="5029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02936" y="4069080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4AF37"/>
                </a:solidFill>
                <a:latin typeface="Georgia"/>
              </a:defRPr>
            </a:pPr>
            <a:r>
              <a:t>1-on-1 Bilateral Matchmaker</a:t>
            </a:r>
          </a:p>
          <a:p>
            <a:pPr>
              <a:defRPr sz="1100">
                <a:solidFill>
                  <a:srgbClr val="B4C3D7"/>
                </a:solidFill>
                <a:latin typeface="Calibri"/>
              </a:defRPr>
            </a:pPr>
            <a:r>
              <a:t>Curated directory of 100 leaders with built-in meeting scheduler to book 15-min private catch-ups during breaks.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9872" y="3931920"/>
            <a:ext cx="3328416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on_pho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4114800"/>
            <a:ext cx="502920" cy="502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897112" y="4069080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Georgia"/>
              </a:defRPr>
            </a:pPr>
            <a:r>
              <a:t>AI Facial-Recognition Photos</a:t>
            </a:r>
          </a:p>
          <a:p>
            <a:pPr>
              <a:defRPr sz="1100">
                <a:solidFill>
                  <a:srgbClr val="B4C3D7"/>
                </a:solidFill>
                <a:latin typeface="Calibri"/>
              </a:defRPr>
            </a:pPr>
            <a:r>
              <a:t>Delegates upload a selfie; the app automatically curates all official high-res photos they appear in for immediate download.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4AF37"/>
                </a:solidFill>
                <a:latin typeface="Georgia"/>
              </a:defRPr>
            </a:pPr>
            <a:r>
              <a:t>WEBSITE STRATEGY (SCOPE ONLY)</a:t>
            </a:r>
          </a:p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Official Website Strategy: Digital Flagship &amp; Vetting 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645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hield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029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8760" y="1783080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4AF37"/>
                </a:solidFill>
                <a:latin typeface="Georgia"/>
              </a:defRPr>
            </a:pPr>
            <a:r>
              <a:t>Sovereign Digital Flagship</a:t>
            </a:r>
          </a:p>
          <a:p>
            <a:pPr>
              <a:defRPr sz="1100">
                <a:solidFill>
                  <a:srgbClr val="B4C3D7"/>
                </a:solidFill>
                <a:latin typeface="Calibri"/>
              </a:defRPr>
            </a:pPr>
            <a:r>
              <a:t>Validates institutional prestige, celebrating Indian business impact at the House of Commons, Oxford, Cambridge, and Imperial College London.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2011680"/>
          </a:xfrm>
          <a:prstGeom prst="roundRect">
            <a:avLst/>
          </a:prstGeom>
          <a:solidFill>
            <a:srgbClr val="0C1C3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obile_wa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76" y="1828800"/>
            <a:ext cx="50292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02936" y="1783080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Georgia"/>
              </a:defRPr>
            </a:pPr>
            <a:r>
              <a:t>Delegate Vetting &amp; Application</a:t>
            </a:r>
          </a:p>
          <a:p>
            <a:pPr>
              <a:defRPr sz="1100">
                <a:solidFill>
                  <a:srgbClr val="B4C3D7"/>
                </a:solidFill>
                <a:latin typeface="Calibri"/>
              </a:defRPr>
            </a:pPr>
            <a:r>
              <a:t>Multi-step Expression of Interest (EOI) portal (Tally integrated) to filter and select exactly 100 qualified C-Suite delegates.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hield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2" y="1828800"/>
            <a:ext cx="502920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97112" y="1783080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3E5AB"/>
                </a:solidFill>
                <a:latin typeface="Georgia"/>
              </a:defRPr>
            </a:pPr>
            <a:r>
              <a:t>5-Day Interactive Timeline</a:t>
            </a:r>
          </a:p>
          <a:p>
            <a:pPr>
              <a:defRPr sz="1100">
                <a:solidFill>
                  <a:srgbClr val="B4C3D7"/>
                </a:solidFill>
                <a:latin typeface="Calibri"/>
              </a:defRPr>
            </a:pPr>
            <a:r>
              <a:t>Tabbed journey guide providing deep transparency on session themes, academic forums, dress codes, and logistics.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3328416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hield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14800"/>
            <a:ext cx="502920" cy="502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08760" y="4069080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Georgia"/>
              </a:defRPr>
            </a:pPr>
            <a:r>
              <a:t>Statutory &amp; Legal Separation</a:t>
            </a:r>
          </a:p>
          <a:p>
            <a:pPr>
              <a:defRPr sz="1100">
                <a:solidFill>
                  <a:srgbClr val="B4C3D7"/>
                </a:solidFill>
                <a:latin typeface="Calibri"/>
              </a:defRPr>
            </a:pPr>
            <a:r>
              <a:t>Clear regulatory notice establishing that awards attendance is by invitation only and fees solely fund the business leadership programme.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5696" y="3931920"/>
            <a:ext cx="3328416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c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" y="4114800"/>
            <a:ext cx="502920" cy="5029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02936" y="4069080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4AF37"/>
                </a:solidFill>
                <a:latin typeface="Georgia"/>
              </a:defRPr>
            </a:pPr>
            <a:r>
              <a:t>Award Categories &amp; Nominations</a:t>
            </a:r>
          </a:p>
          <a:p>
            <a:pPr>
              <a:defRPr sz="1100">
                <a:solidFill>
                  <a:srgbClr val="B4C3D7"/>
                </a:solidFill>
                <a:latin typeface="Calibri"/>
              </a:defRPr>
            </a:pPr>
            <a:r>
              <a:t>Showcases 8 core recognition categories with criteria, enabling peer-to-peer nomination and credentials submission.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9872" y="3931920"/>
            <a:ext cx="3328416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hield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2" y="4114800"/>
            <a:ext cx="502920" cy="502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897112" y="4069080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Georgia"/>
              </a:defRPr>
            </a:pPr>
            <a:r>
              <a:t>Concierge &amp; FAQ Helpdesk</a:t>
            </a:r>
          </a:p>
          <a:p>
            <a:pPr>
              <a:defRPr sz="1100">
                <a:solidFill>
                  <a:srgbClr val="B4C3D7"/>
                </a:solidFill>
                <a:latin typeface="Calibri"/>
              </a:defRPr>
            </a:pPr>
            <a:r>
              <a:t>Interactive answers for UK visa support letters, hotel reservations, airport chauffeur bookings, and secretariat hotlines.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4AF37"/>
                </a:solidFill>
                <a:latin typeface="Georgia"/>
              </a:defRPr>
            </a:pPr>
            <a:r>
              <a:t>MARKETING STRATEGY: LINKEDIN</a:t>
            </a:r>
          </a:p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LinkedIn Promotion: C-Suite Authority &amp; Thought Leadership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645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583680" cy="4480560"/>
          </a:xfrm>
          <a:prstGeom prst="roundRect">
            <a:avLst/>
          </a:prstGeom>
          <a:solidFill>
            <a:srgbClr val="0C1C3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4AF37"/>
                </a:solidFill>
                <a:latin typeface="Georgia"/>
              </a:defRPr>
            </a:pPr>
            <a:r>
              <a:t>CORE MARKETING ENGINE: B2B &amp; EXECUTIVE VISIBILITY</a:t>
            </a:r>
          </a:p>
          <a:p>
            <a:pPr>
              <a:spcAft>
                <a:spcPts val="600"/>
              </a:spcAft>
              <a:defRPr sz="1150">
                <a:solidFill>
                  <a:srgbClr val="FFFFFF"/>
                </a:solidFill>
                <a:latin typeface="Calibri"/>
              </a:defRPr>
            </a:pPr>
            <a:r>
              <a:t>• Institutional Announcement: Positioning the summit as an exclusive UK–India bilateral leadership summit held inside the British Parliament.</a:t>
            </a:r>
          </a:p>
          <a:p>
            <a:pPr>
              <a:spcAft>
                <a:spcPts val="600"/>
              </a:spcAft>
              <a:defRPr sz="1150">
                <a:solidFill>
                  <a:srgbClr val="FFFFFF"/>
                </a:solidFill>
                <a:latin typeface="Calibri"/>
              </a:defRPr>
            </a:pPr>
            <a:r>
              <a:t>• Founder &amp; President Voice: Personal executive notes from Velou Singaram and board members inviting peers to join the private corridor.</a:t>
            </a:r>
          </a:p>
          <a:p>
            <a:pPr>
              <a:spcAft>
                <a:spcPts val="600"/>
              </a:spcAft>
              <a:defRPr sz="1150">
                <a:solidFill>
                  <a:srgbClr val="FFFFFF"/>
                </a:solidFill>
                <a:latin typeface="Calibri"/>
              </a:defRPr>
            </a:pPr>
            <a:r>
              <a:t>• Academic Immersion Highlights: Spotlighting Oxford, Cambridge, and Imperial College London as catalysts for deep-tech and enterprise scaling.</a:t>
            </a:r>
          </a:p>
          <a:p>
            <a:pPr>
              <a:spcAft>
                <a:spcPts val="600"/>
              </a:spcAft>
              <a:defRPr sz="1150">
                <a:solidFill>
                  <a:srgbClr val="FFFFFF"/>
                </a:solidFill>
                <a:latin typeface="Calibri"/>
              </a:defRPr>
            </a:pPr>
            <a:r>
              <a:t>• Delegate &amp; Speaker Spotlights: Elegant digital badge creatives announcing vetted attendees: 'Proud to announce [Name] as an Executive Delegate.'</a:t>
            </a:r>
          </a:p>
          <a:p>
            <a:pPr>
              <a:spcAft>
                <a:spcPts val="600"/>
              </a:spcAft>
              <a:defRPr sz="1150">
                <a:solidFill>
                  <a:srgbClr val="FFFFFF"/>
                </a:solidFill>
                <a:latin typeface="Calibri"/>
              </a:defRPr>
            </a:pPr>
            <a:r>
              <a:t>• 100-Seat Urgency Triggers: Security clearance deadline countdowns driving C-Suite leaders to submit applications before the quota closes.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645920"/>
            <a:ext cx="3870655" cy="1371600"/>
          </a:xfrm>
          <a:prstGeom prst="roundRect">
            <a:avLst/>
          </a:prstGeom>
          <a:solidFill>
            <a:srgbClr val="12264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8288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Georgia"/>
              </a:defRPr>
            </a:pPr>
            <a:r>
              <a:t>TARGET AUDIENCE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Indian Founders, CEOs, Investors (UK, India, UAE, US, Europe)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3182112"/>
            <a:ext cx="3870655" cy="1371600"/>
          </a:xfrm>
          <a:prstGeom prst="roundRect">
            <a:avLst/>
          </a:prstGeom>
          <a:solidFill>
            <a:srgbClr val="12264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3364992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Georgia"/>
              </a:defRPr>
            </a:pPr>
            <a:r>
              <a:t>HASHTAG STRATEGY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#GlobalIndianAwards #HouseOfCommons #UKIndiaTrade #IBN2026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4718304"/>
            <a:ext cx="3870655" cy="1371600"/>
          </a:xfrm>
          <a:prstGeom prst="roundRect">
            <a:avLst/>
          </a:prstGeom>
          <a:solidFill>
            <a:srgbClr val="12264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4901184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Georgia"/>
              </a:defRPr>
            </a:pPr>
            <a:r>
              <a:t>CONVERSION HOOK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Direct link to Tally Vetting Form with VIP nomination incentive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4AF37"/>
                </a:solidFill>
                <a:latin typeface="Georgia"/>
              </a:defRPr>
            </a:pPr>
            <a:r>
              <a:t>MARKETING STRATEGY: FACEBOOK</a:t>
            </a:r>
          </a:p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Facebook Promotion: Diaspora Communities &amp; Multi-Card Carousels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645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93792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645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D4AF37"/>
                </a:solidFill>
                <a:latin typeface="Georgia"/>
              </a:defRPr>
            </a:pPr>
            <a:r>
              <a:t>✦ Official Event Page Hub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Create a verified Facebook Event Page: 'Global Indian Business Excellence Awards 2026 — London', serving as the primary RSVP and live announcement center.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4496" y="1645920"/>
            <a:ext cx="5193792" cy="2011680"/>
          </a:xfrm>
          <a:prstGeom prst="roundRect">
            <a:avLst/>
          </a:prstGeom>
          <a:solidFill>
            <a:srgbClr val="0C1C3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8816" y="1874520"/>
            <a:ext cx="4645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Georgia"/>
              </a:defRPr>
            </a:pPr>
            <a:r>
              <a:t>✦ Multi-Slide Carousel Ads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'5 Days. 3 Historic Institutions. 100 Leaders.' Multi-card ads showcasing Big Ben, the House of Commons, Gala ballroom, Oxford, and Cambridge.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93792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60520"/>
            <a:ext cx="4645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3E5AB"/>
                </a:solidFill>
                <a:latin typeface="Georgia"/>
              </a:defRPr>
            </a:pPr>
            <a:r>
              <a:t>✦ Business Diaspora Groups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Engage established British-Indian diaspora groups, executive alumni networks (IIT/IIM UK Chapters), and bilateral business councils.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3931920"/>
            <a:ext cx="5193792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8816" y="4160520"/>
            <a:ext cx="4645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Georgia"/>
              </a:defRPr>
            </a:pPr>
            <a:r>
              <a:t>✦ Video Teaser Campaigns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Short 30-second cinematic teasers highlighting the prestige of Westminster and academic innovation hubs, targeted to mature business demographics.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4AF37"/>
                </a:solidFill>
                <a:latin typeface="Georgia"/>
              </a:defRPr>
            </a:pPr>
            <a:r>
              <a:t>MARKETING STRATEGY: INSTAGRAM</a:t>
            </a:r>
          </a:p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Instagram Promotion: Visual Prestige, Cinematic Reels &amp; Stories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645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93792" cy="2011680"/>
          </a:xfrm>
          <a:prstGeom prst="roundRect">
            <a:avLst/>
          </a:prstGeom>
          <a:solidFill>
            <a:srgbClr val="0C1C3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645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D4AF37"/>
                </a:solidFill>
                <a:latin typeface="Georgia"/>
              </a:defRPr>
            </a:pPr>
            <a:r>
              <a:t>✦ Cinematic Luxury Reels (9:16)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35-second high-energy cinematic clips: Big Ben twilight aerials, red-carpet Black Tie gala, Oxford colleges, and the Parliament terrace.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4496" y="1645920"/>
            <a:ext cx="5193792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8816" y="1874520"/>
            <a:ext cx="4645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Georgia"/>
              </a:defRPr>
            </a:pPr>
            <a:r>
              <a:t>✦ High-Engagement Feed Carousels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10-slide luxury slide carousels breaking down each day's itinerary, delegate package inclusions, and award categories with dark navy/gold aesthetics.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93792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60520"/>
            <a:ext cx="4645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3E5AB"/>
                </a:solidFill>
                <a:latin typeface="Georgia"/>
              </a:defRPr>
            </a:pPr>
            <a:r>
              <a:t>✦ Interactive Countdown Stories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Countdown stickers for registration closing, 'Meet the Committee' story cards, dress-code style inspiration (Black Tie / Tuxedo), and live Q&amp;A stickers.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3931920"/>
            <a:ext cx="5193792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8816" y="4160520"/>
            <a:ext cx="4645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Georgia"/>
              </a:defRPr>
            </a:pPr>
            <a:r>
              <a:t>✦ Curated Highlight Covers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Permanent profile highlights on Instagram: 🏛️ Parliament | 🗓️ Itinerary | 🎓 Oxford &amp; Cambridge | 👔 Dress Code | 🎟️ Apply.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4AF37"/>
                </a:solidFill>
                <a:latin typeface="Georgia"/>
              </a:defRPr>
            </a:pPr>
            <a:r>
              <a:t>MARKETING STRATEGY: WHATSAPP</a:t>
            </a:r>
          </a:p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WhatsApp Strategy: High-Touch VIP Concierge &amp; Direct Outreach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645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93792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645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D4AF37"/>
                </a:solidFill>
                <a:latin typeface="Georgia"/>
              </a:defRPr>
            </a:pPr>
            <a:r>
              <a:t>✦ Personalized 1-on-1 VIP Outreach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Direct confidential invitations sent to nominated CEOs and industry titans with personalized PDF invitations and brochure attachments.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4496" y="1645920"/>
            <a:ext cx="5193792" cy="2011680"/>
          </a:xfrm>
          <a:prstGeom prst="roundRect">
            <a:avLst/>
          </a:prstGeom>
          <a:solidFill>
            <a:srgbClr val="0C1C3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8816" y="1874520"/>
            <a:ext cx="4645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Georgia"/>
              </a:defRPr>
            </a:pPr>
            <a:r>
              <a:t>✦ Instant Secretariat Hotline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One-tap direct chat with Event Coordinator Subha Austalekshmi (+44 7587 260254) for immediate answers regarding itinerary, hotels, and visas.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93792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60520"/>
            <a:ext cx="4645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3E5AB"/>
                </a:solidFill>
                <a:latin typeface="Georgia"/>
              </a:defRPr>
            </a:pPr>
            <a:r>
              <a:t>✦ Accredited Delegate Broadcast Channel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Private, announcement-only broadcast group for the 100 confirmed delegates providing daily security timing and coach departure updates.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3931920"/>
            <a:ext cx="5193792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8816" y="4160520"/>
            <a:ext cx="4645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Georgia"/>
              </a:defRPr>
            </a:pPr>
            <a:r>
              <a:t>✦ Interactive WhatsApp Chatbot Flow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Automated FAQ assistant answering queries on dress code, Cromwell Green passport requirements, and coach pickup points in central London.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4AF37"/>
                </a:solidFill>
                <a:latin typeface="Georgia"/>
              </a:defRPr>
            </a:pPr>
            <a:r>
              <a:t>MARKETING STRATEGY: EMAIL</a:t>
            </a:r>
          </a:p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Email Newsletter Campaign: 4-Stage High-Conversion VIP Drip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645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87752" cy="4480560"/>
          </a:xfrm>
          <a:prstGeom prst="roundRect">
            <a:avLst/>
          </a:prstGeom>
          <a:solidFill>
            <a:srgbClr val="0C1C3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22199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D4AF37"/>
                </a:solidFill>
                <a:latin typeface="Georgia"/>
              </a:defRPr>
            </a:pPr>
            <a:r>
              <a:t>EMAIL 1: VIP INVITATION</a:t>
            </a:r>
          </a:p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The British Parliament Calling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Formal high-touch invitation addressed directly to C-Suite leaders detailing the 5-day summit, House of Commons prestige, and the 100-seat ceiling.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02152" y="1645920"/>
            <a:ext cx="2587752" cy="4480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85032" y="1920240"/>
            <a:ext cx="222199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Georgia"/>
              </a:defRPr>
            </a:pPr>
            <a:r>
              <a:t>EMAIL 2: ACADEMIC FOCUS</a:t>
            </a:r>
          </a:p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Beyond Westminster: Oxford &amp; Cambridge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Deep dive into the Oxford Business Leadership Forum, Cambridge deep-tech cluster, and Imperial College London research commercialisation.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3" y="1645920"/>
            <a:ext cx="2587752" cy="4480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3" y="1920240"/>
            <a:ext cx="222199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3E5AB"/>
                </a:solidFill>
                <a:latin typeface="Georgia"/>
              </a:defRPr>
            </a:pPr>
            <a:r>
              <a:t>EMAIL 3: URGENCY &amp; CLEARANCE</a:t>
            </a:r>
          </a:p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Capacity Warning &amp; Security Lead Times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Alerting invited leaders that 80% of capacity is allocated and parliamentary accreditation requires passport details well in advance.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43416" y="1645920"/>
            <a:ext cx="2587752" cy="4480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6296" y="1920240"/>
            <a:ext cx="222199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Georgia"/>
              </a:defRPr>
            </a:pPr>
            <a:r>
              <a:t>EMAIL 4: ONBOARDING BRIEFING</a:t>
            </a:r>
          </a:p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Confirmed Delegate Welcome Package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Dispatched to confirmed leaders with dress codes (Black Tie / Formal), security clearance confirmations, and mobile app download credentials.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4AF37"/>
                </a:solidFill>
                <a:latin typeface="Georgia"/>
              </a:defRPr>
            </a:pPr>
            <a:r>
              <a:t>MARKETING EXECUTION</a:t>
            </a:r>
          </a:p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Integrated Multi-Channel Conversion Funnel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645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87752" cy="4480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22199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D4AF37"/>
                </a:solidFill>
                <a:latin typeface="Georgia"/>
              </a:defRPr>
            </a:pPr>
            <a:r>
              <a:t>STAGE 1: AWARENESS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LinkedIn &amp; Media PR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Thought leadership articles, official press releases, and executive announcements establishing global prestige.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02152" y="1645920"/>
            <a:ext cx="2587752" cy="4480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85032" y="1920240"/>
            <a:ext cx="222199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D4AF37"/>
                </a:solidFill>
                <a:latin typeface="Georgia"/>
              </a:defRPr>
            </a:pPr>
            <a:r>
              <a:t>STAGE 2: ENGAGEMENT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Instagram &amp; Facebook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Cinematic video reels, carousel ads, and community discussions highlighting Oxford, Cambridge, and the Gala.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3" y="1645920"/>
            <a:ext cx="2587752" cy="4480560"/>
          </a:xfrm>
          <a:prstGeom prst="roundRect">
            <a:avLst/>
          </a:prstGeom>
          <a:solidFill>
            <a:srgbClr val="0C1C3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3" y="1920240"/>
            <a:ext cx="222199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D4AF37"/>
                </a:solidFill>
                <a:latin typeface="Georgia"/>
              </a:defRPr>
            </a:pPr>
            <a:r>
              <a:t>STAGE 3: CONVERSION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Website &amp; WhatsApp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Official vetting portal on the website (Tally embed) supported by 1-on-1 WhatsApp VIP concierge consultations.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43416" y="1645920"/>
            <a:ext cx="2587752" cy="4480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6296" y="1920240"/>
            <a:ext cx="222199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D4AF37"/>
                </a:solidFill>
                <a:latin typeface="Georgia"/>
              </a:defRPr>
            </a:pPr>
            <a:r>
              <a:t>STAGE 4: NURTURING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Email Drip &amp; App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Targeted 4-stage email newsletters, security vetting confirmations, and digital mobile pass activation.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