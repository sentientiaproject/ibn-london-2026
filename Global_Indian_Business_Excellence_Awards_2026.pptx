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2700">
            <a:solidFill>
              <a:srgbClr val="284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411480"/>
            <a:ext cx="11368735" cy="6035040"/>
          </a:xfrm>
          <a:prstGeom prst="rect">
            <a:avLst/>
          </a:prstGeom>
          <a:noFill/>
          <a:ln w="9525">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31520"/>
            <a:ext cx="10362895" cy="731520"/>
          </a:xfrm>
          <a:prstGeom prst="rect">
            <a:avLst/>
          </a:prstGeom>
          <a:noFill/>
        </p:spPr>
        <p:txBody>
          <a:bodyPr wrap="square">
            <a:spAutoFit/>
          </a:bodyPr>
          <a:lstStyle/>
          <a:p>
            <a:pPr algn="ctr">
              <a:defRPr sz="1400" b="1">
                <a:solidFill>
                  <a:srgbClr val="D4AF37"/>
                </a:solidFill>
                <a:latin typeface="Georgia"/>
              </a:defRPr>
            </a:pPr>
            <a:r>
              <a:t>INDIAN BUSINESS NETWORK</a:t>
            </a:r>
          </a:p>
          <a:p>
            <a:pPr algn="ctr">
              <a:defRPr sz="1100">
                <a:solidFill>
                  <a:srgbClr val="B4C3D7"/>
                </a:solidFill>
                <a:latin typeface="Calibri"/>
              </a:defRPr>
            </a:pPr>
            <a:r>
              <a:t>Connect • Collaborate • Inspire</a:t>
            </a:r>
          </a:p>
        </p:txBody>
      </p:sp>
      <p:sp>
        <p:nvSpPr>
          <p:cNvPr id="6" name="TextBox 5"/>
          <p:cNvSpPr txBox="1"/>
          <p:nvPr/>
        </p:nvSpPr>
        <p:spPr>
          <a:xfrm>
            <a:off x="914400" y="1645920"/>
            <a:ext cx="10362895" cy="2011680"/>
          </a:xfrm>
          <a:prstGeom prst="rect">
            <a:avLst/>
          </a:prstGeom>
          <a:noFill/>
        </p:spPr>
        <p:txBody>
          <a:bodyPr wrap="square">
            <a:spAutoFit/>
          </a:bodyPr>
          <a:lstStyle/>
          <a:p>
            <a:pPr algn="ctr">
              <a:spcAft>
                <a:spcPts val="1200"/>
              </a:spcAft>
              <a:defRPr sz="3600" b="1">
                <a:solidFill>
                  <a:srgbClr val="F3E5AB"/>
                </a:solidFill>
                <a:latin typeface="Georgia"/>
              </a:defRPr>
            </a:pPr>
            <a:r>
              <a:t>GLOBAL INDIAN</a:t>
            </a:r>
            <a:br/>
            <a:r>
              <a:t>BUSINESS EXCELLENCE AWARDS 2026</a:t>
            </a:r>
          </a:p>
          <a:p>
            <a:pPr algn="ctr">
              <a:defRPr sz="1800">
                <a:solidFill>
                  <a:srgbClr val="FFFFFF"/>
                </a:solidFill>
                <a:latin typeface="Calibri"/>
              </a:defRPr>
            </a:pPr>
            <a:r>
              <a:t>Honouring Indian Business Leaders Creating Global Impact</a:t>
            </a:r>
          </a:p>
        </p:txBody>
      </p:sp>
      <p:sp>
        <p:nvSpPr>
          <p:cNvPr id="7" name="Rounded Rectangle 6"/>
          <p:cNvSpPr/>
          <p:nvPr/>
        </p:nvSpPr>
        <p:spPr>
          <a:xfrm>
            <a:off x="2286000" y="3840480"/>
            <a:ext cx="7619695" cy="1371600"/>
          </a:xfrm>
          <a:prstGeom prst="roundRect">
            <a:avLst/>
          </a:prstGeom>
          <a:solidFill>
            <a:srgbClr val="0C1C36"/>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0" y="3977639"/>
            <a:ext cx="7253935" cy="1097280"/>
          </a:xfrm>
          <a:prstGeom prst="rect">
            <a:avLst/>
          </a:prstGeom>
          <a:noFill/>
        </p:spPr>
        <p:txBody>
          <a:bodyPr wrap="none">
            <a:spAutoFit/>
          </a:bodyPr>
          <a:lstStyle/>
          <a:p>
            <a:pPr algn="ctr">
              <a:defRPr sz="1600" b="1">
                <a:solidFill>
                  <a:srgbClr val="D4AF37"/>
                </a:solidFill>
                <a:latin typeface="Calibri"/>
              </a:defRPr>
            </a:pPr>
            <a:r>
              <a:t>🏛️ HOUSE OF COMMONS, BRITISH PARLIAMENT | LONDON, UK</a:t>
            </a:r>
          </a:p>
          <a:p>
            <a:pPr algn="ctr">
              <a:spcBef>
                <a:spcPts val="600"/>
              </a:spcBef>
              <a:defRPr sz="1300" b="1">
                <a:solidFill>
                  <a:srgbClr val="FFFFFF"/>
                </a:solidFill>
                <a:latin typeface="Calibri"/>
              </a:defRPr>
            </a:pPr>
            <a:r>
              <a:t>📅 5–9 NOVEMBER 2026  •  🔒 BY INVITATION ONLY (STRICTLY CAPPED AT 100 GUESTS)</a:t>
            </a:r>
          </a:p>
        </p:txBody>
      </p:sp>
      <p:sp>
        <p:nvSpPr>
          <p:cNvPr id="9" name="TextBox 8"/>
          <p:cNvSpPr txBox="1"/>
          <p:nvPr/>
        </p:nvSpPr>
        <p:spPr>
          <a:xfrm>
            <a:off x="914400" y="5577840"/>
            <a:ext cx="10362895" cy="548640"/>
          </a:xfrm>
          <a:prstGeom prst="rect">
            <a:avLst/>
          </a:prstGeom>
          <a:noFill/>
        </p:spPr>
        <p:txBody>
          <a:bodyPr wrap="none">
            <a:spAutoFit/>
          </a:bodyPr>
          <a:lstStyle/>
          <a:p>
            <a:pPr algn="ctr">
              <a:defRPr sz="1200" b="1">
                <a:solidFill>
                  <a:srgbClr val="B4C3D7"/>
                </a:solidFill>
                <a:latin typeface="Calibri"/>
              </a:defRPr>
            </a:pPr>
            <a:r>
              <a:t>CEOs  •  ENTREPRENEURS  •  INVESTORS  •  GLOBAL PROFESSIONALS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D4AF37"/>
                </a:solidFill>
                <a:latin typeface="Georgia"/>
              </a:defRPr>
            </a:pPr>
            <a:r>
              <a:t>GLOBAL INDIAN BUSINESS EXCELLENCE AWARDS 2026</a:t>
            </a:r>
          </a:p>
          <a:p>
            <a:pPr>
              <a:defRPr sz="2600" b="1">
                <a:solidFill>
                  <a:srgbClr val="FFFFFF"/>
                </a:solidFill>
                <a:latin typeface="Calibri"/>
              </a:defRPr>
            </a:pPr>
            <a:r>
              <a:t>Executive Vision: Redefining Global Indian Impact</a:t>
            </a:r>
          </a:p>
        </p:txBody>
      </p:sp>
      <p:sp>
        <p:nvSpPr>
          <p:cNvPr id="4" name="Rectangle 3"/>
          <p:cNvSpPr/>
          <p:nvPr/>
        </p:nvSpPr>
        <p:spPr>
          <a:xfrm>
            <a:off x="731520" y="1371600"/>
            <a:ext cx="16459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28416" cy="4389120"/>
          </a:xfrm>
          <a:prstGeom prst="roundRect">
            <a:avLst/>
          </a:prstGeom>
          <a:solidFill>
            <a:srgbClr val="0C1C36"/>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2779776" cy="3657600"/>
          </a:xfrm>
          <a:prstGeom prst="rect">
            <a:avLst/>
          </a:prstGeom>
          <a:noFill/>
        </p:spPr>
        <p:txBody>
          <a:bodyPr wrap="square">
            <a:spAutoFit/>
          </a:bodyPr>
          <a:lstStyle/>
          <a:p>
            <a:pPr>
              <a:spcAft>
                <a:spcPts val="1000"/>
              </a:spcAft>
              <a:defRPr sz="1400" b="1">
                <a:solidFill>
                  <a:srgbClr val="D4AF37"/>
                </a:solidFill>
                <a:latin typeface="Georgia"/>
              </a:defRPr>
            </a:pPr>
            <a:r>
              <a:t>01. HONOUR</a:t>
            </a:r>
          </a:p>
          <a:p>
            <a:pPr>
              <a:spcAft>
                <a:spcPts val="1400"/>
              </a:spcAft>
              <a:defRPr sz="1800" b="1">
                <a:solidFill>
                  <a:srgbClr val="FFFFFF"/>
                </a:solidFill>
                <a:latin typeface="Calibri"/>
              </a:defRPr>
            </a:pPr>
            <a:r>
              <a:t>Recognizing Excellence</a:t>
            </a:r>
          </a:p>
          <a:p>
            <a:pPr>
              <a:defRPr sz="1300">
                <a:solidFill>
                  <a:srgbClr val="B4C3D7"/>
                </a:solidFill>
                <a:latin typeface="Calibri"/>
              </a:defRPr>
            </a:pPr>
            <a:r>
              <a:t>Celebrating transformative entrepreneurs, CEOs, and investors of Indian heritage who have built sustainable cross-border enterprises and global market leadership.</a:t>
            </a:r>
          </a:p>
        </p:txBody>
      </p:sp>
      <p:sp>
        <p:nvSpPr>
          <p:cNvPr id="7" name="Rounded Rectangle 6"/>
          <p:cNvSpPr/>
          <p:nvPr/>
        </p:nvSpPr>
        <p:spPr>
          <a:xfrm>
            <a:off x="4425696" y="1645920"/>
            <a:ext cx="3328416" cy="4389120"/>
          </a:xfrm>
          <a:prstGeom prst="roundRect">
            <a:avLst/>
          </a:prstGeom>
          <a:solidFill>
            <a:srgbClr val="0C1C36"/>
          </a:solidFill>
          <a:ln w="19050">
            <a:solidFill>
              <a:srgbClr val="284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0016" y="2011680"/>
            <a:ext cx="2779776" cy="3657600"/>
          </a:xfrm>
          <a:prstGeom prst="rect">
            <a:avLst/>
          </a:prstGeom>
          <a:noFill/>
        </p:spPr>
        <p:txBody>
          <a:bodyPr wrap="square">
            <a:spAutoFit/>
          </a:bodyPr>
          <a:lstStyle/>
          <a:p>
            <a:pPr>
              <a:spcAft>
                <a:spcPts val="1000"/>
              </a:spcAft>
              <a:defRPr sz="1400" b="1">
                <a:solidFill>
                  <a:srgbClr val="FFFFFF"/>
                </a:solidFill>
                <a:latin typeface="Georgia"/>
              </a:defRPr>
            </a:pPr>
            <a:r>
              <a:t>02. CONNECT</a:t>
            </a:r>
          </a:p>
          <a:p>
            <a:pPr>
              <a:spcAft>
                <a:spcPts val="1400"/>
              </a:spcAft>
              <a:defRPr sz="1800" b="1">
                <a:solidFill>
                  <a:srgbClr val="FFFFFF"/>
                </a:solidFill>
                <a:latin typeface="Calibri"/>
              </a:defRPr>
            </a:pPr>
            <a:r>
              <a:t>Bespoke Bilateral Network</a:t>
            </a:r>
          </a:p>
          <a:p>
            <a:pPr>
              <a:defRPr sz="1300">
                <a:solidFill>
                  <a:srgbClr val="B4C3D7"/>
                </a:solidFill>
                <a:latin typeface="Calibri"/>
              </a:defRPr>
            </a:pPr>
            <a:r>
              <a:t>An intimate, invitation-only congregation of 100 distinguished leaders, facilitating direct engagement between Indian titans and UK political and business dignitaries.</a:t>
            </a:r>
          </a:p>
        </p:txBody>
      </p:sp>
      <p:sp>
        <p:nvSpPr>
          <p:cNvPr id="9" name="Rounded Rectangle 8"/>
          <p:cNvSpPr/>
          <p:nvPr/>
        </p:nvSpPr>
        <p:spPr>
          <a:xfrm>
            <a:off x="8119872" y="1645920"/>
            <a:ext cx="3328416" cy="4389120"/>
          </a:xfrm>
          <a:prstGeom prst="roundRect">
            <a:avLst/>
          </a:prstGeom>
          <a:solidFill>
            <a:srgbClr val="0C1C36"/>
          </a:solidFill>
          <a:ln w="19050">
            <a:solidFill>
              <a:srgbClr val="284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2011680"/>
            <a:ext cx="2779776" cy="3657600"/>
          </a:xfrm>
          <a:prstGeom prst="rect">
            <a:avLst/>
          </a:prstGeom>
          <a:noFill/>
        </p:spPr>
        <p:txBody>
          <a:bodyPr wrap="square">
            <a:spAutoFit/>
          </a:bodyPr>
          <a:lstStyle/>
          <a:p>
            <a:pPr>
              <a:spcAft>
                <a:spcPts val="1000"/>
              </a:spcAft>
              <a:defRPr sz="1400" b="1">
                <a:solidFill>
                  <a:srgbClr val="F3E5AB"/>
                </a:solidFill>
                <a:latin typeface="Georgia"/>
              </a:defRPr>
            </a:pPr>
            <a:r>
              <a:t>03. INSPIRE</a:t>
            </a:r>
          </a:p>
          <a:p>
            <a:pPr>
              <a:spcAft>
                <a:spcPts val="1400"/>
              </a:spcAft>
              <a:defRPr sz="1800" b="1">
                <a:solidFill>
                  <a:srgbClr val="FFFFFF"/>
                </a:solidFill>
                <a:latin typeface="Calibri"/>
              </a:defRPr>
            </a:pPr>
            <a:r>
              <a:t>Academic Immersion</a:t>
            </a:r>
          </a:p>
          <a:p>
            <a:pPr>
              <a:defRPr sz="1300">
                <a:solidFill>
                  <a:srgbClr val="B4C3D7"/>
                </a:solidFill>
                <a:latin typeface="Calibri"/>
              </a:defRPr>
            </a:pPr>
            <a:r>
              <a:t>Forging institutional bridges with Oxford, Cambridge, and Imperial College London to exchange cutting-edge research, venture creation, and governance best practices.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D4AF37"/>
                </a:solidFill>
                <a:latin typeface="Georgia"/>
              </a:defRPr>
            </a:pPr>
            <a:r>
              <a:t>GLOBAL INDIAN BUSINESS EXCELLENCE AWARDS 2026</a:t>
            </a:r>
          </a:p>
          <a:p>
            <a:pPr>
              <a:defRPr sz="2600" b="1">
                <a:solidFill>
                  <a:srgbClr val="FFFFFF"/>
                </a:solidFill>
                <a:latin typeface="Calibri"/>
              </a:defRPr>
            </a:pPr>
            <a:r>
              <a:t>The Historic Stage: House of Commons, British Parliament</a:t>
            </a:r>
          </a:p>
        </p:txBody>
      </p:sp>
      <p:sp>
        <p:nvSpPr>
          <p:cNvPr id="4" name="Rectangle 3"/>
          <p:cNvSpPr/>
          <p:nvPr/>
        </p:nvSpPr>
        <p:spPr>
          <a:xfrm>
            <a:off x="731520" y="1371600"/>
            <a:ext cx="16459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6583680" cy="448056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20240"/>
            <a:ext cx="5852160" cy="3931920"/>
          </a:xfrm>
          <a:prstGeom prst="rect">
            <a:avLst/>
          </a:prstGeom>
          <a:noFill/>
        </p:spPr>
        <p:txBody>
          <a:bodyPr wrap="square">
            <a:spAutoFit/>
          </a:bodyPr>
          <a:lstStyle/>
          <a:p>
            <a:pPr>
              <a:spcAft>
                <a:spcPts val="1000"/>
              </a:spcAft>
              <a:defRPr sz="1400" b="1">
                <a:solidFill>
                  <a:srgbClr val="D4AF37"/>
                </a:solidFill>
                <a:latin typeface="Georgia"/>
              </a:defRPr>
            </a:pPr>
            <a:r>
              <a:t>AN UNPARALLELED ASSEMBLY AT WESTMINSTER</a:t>
            </a:r>
          </a:p>
          <a:p>
            <a:pPr>
              <a:spcAft>
                <a:spcPts val="800"/>
              </a:spcAft>
              <a:defRPr sz="1300">
                <a:solidFill>
                  <a:srgbClr val="FFFFFF"/>
                </a:solidFill>
                <a:latin typeface="Calibri"/>
              </a:defRPr>
            </a:pPr>
            <a:r>
              <a:t>• Palace of Westminster Heritage: Gathering at the epicenter of British history and global democratic tradition.</a:t>
            </a:r>
          </a:p>
          <a:p>
            <a:pPr>
              <a:spcAft>
                <a:spcPts val="800"/>
              </a:spcAft>
              <a:defRPr sz="1300">
                <a:solidFill>
                  <a:srgbClr val="FFFFFF"/>
                </a:solidFill>
                <a:latin typeface="Calibri"/>
              </a:defRPr>
            </a:pPr>
            <a:r>
              <a:t>• High-Level India–UK Bilateral Synergy: Positioned as an executive bridge between leading Indian business houses and UK political, trade, and economic leaders.</a:t>
            </a:r>
          </a:p>
          <a:p>
            <a:pPr>
              <a:spcAft>
                <a:spcPts val="800"/>
              </a:spcAft>
              <a:defRPr sz="1300">
                <a:solidFill>
                  <a:srgbClr val="FFFFFF"/>
                </a:solidFill>
                <a:latin typeface="Calibri"/>
              </a:defRPr>
            </a:pPr>
            <a:r>
              <a:t>• Unrivalled Exclusivity: Strictly capped at 100 vetted delegates to maintain intimate networking and highest security protocols.</a:t>
            </a:r>
          </a:p>
          <a:p>
            <a:pPr>
              <a:spcAft>
                <a:spcPts val="800"/>
              </a:spcAft>
              <a:defRPr sz="1300">
                <a:solidFill>
                  <a:srgbClr val="FFFFFF"/>
                </a:solidFill>
                <a:latin typeface="Calibri"/>
              </a:defRPr>
            </a:pPr>
            <a:r>
              <a:t>• Parliamentary Reception: Formal awards presentation followed by an executive networking reception inside the parliamentary estate.</a:t>
            </a:r>
          </a:p>
        </p:txBody>
      </p:sp>
      <p:sp>
        <p:nvSpPr>
          <p:cNvPr id="7" name="Rounded Rectangle 6"/>
          <p:cNvSpPr/>
          <p:nvPr/>
        </p:nvSpPr>
        <p:spPr>
          <a:xfrm>
            <a:off x="7589520" y="1645920"/>
            <a:ext cx="3840480" cy="1371600"/>
          </a:xfrm>
          <a:prstGeom prst="roundRect">
            <a:avLst/>
          </a:prstGeom>
          <a:solidFill>
            <a:srgbClr val="142A4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1783080"/>
            <a:ext cx="3474720" cy="1097280"/>
          </a:xfrm>
          <a:prstGeom prst="rect">
            <a:avLst/>
          </a:prstGeom>
          <a:noFill/>
        </p:spPr>
        <p:txBody>
          <a:bodyPr wrap="square">
            <a:spAutoFit/>
          </a:bodyPr>
          <a:lstStyle/>
          <a:p>
            <a:pPr>
              <a:defRPr sz="2800" b="1">
                <a:solidFill>
                  <a:srgbClr val="D4AF37"/>
                </a:solidFill>
                <a:latin typeface="Georgia"/>
              </a:defRPr>
            </a:pPr>
            <a:r>
              <a:t>100</a:t>
            </a:r>
          </a:p>
          <a:p>
            <a:pPr>
              <a:defRPr sz="1100" b="1">
                <a:solidFill>
                  <a:srgbClr val="FFFFFF"/>
                </a:solidFill>
                <a:latin typeface="Calibri"/>
              </a:defRPr>
            </a:pPr>
            <a:r>
              <a:t>DISTINGUISHED GUESTS — Exclusive C-Suite audience cap</a:t>
            </a:r>
          </a:p>
        </p:txBody>
      </p:sp>
      <p:sp>
        <p:nvSpPr>
          <p:cNvPr id="9" name="Rounded Rectangle 8"/>
          <p:cNvSpPr/>
          <p:nvPr/>
        </p:nvSpPr>
        <p:spPr>
          <a:xfrm>
            <a:off x="7589520" y="3182112"/>
            <a:ext cx="3840480" cy="1371600"/>
          </a:xfrm>
          <a:prstGeom prst="roundRect">
            <a:avLst/>
          </a:prstGeom>
          <a:solidFill>
            <a:srgbClr val="142A4E"/>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3319272"/>
            <a:ext cx="3474720" cy="1097280"/>
          </a:xfrm>
          <a:prstGeom prst="rect">
            <a:avLst/>
          </a:prstGeom>
          <a:noFill/>
        </p:spPr>
        <p:txBody>
          <a:bodyPr wrap="square">
            <a:spAutoFit/>
          </a:bodyPr>
          <a:lstStyle/>
          <a:p>
            <a:pPr>
              <a:defRPr sz="2800" b="1">
                <a:solidFill>
                  <a:srgbClr val="D4AF37"/>
                </a:solidFill>
                <a:latin typeface="Georgia"/>
              </a:defRPr>
            </a:pPr>
            <a:r>
              <a:t>5 DAYS</a:t>
            </a:r>
          </a:p>
          <a:p>
            <a:pPr>
              <a:defRPr sz="1100" b="1">
                <a:solidFill>
                  <a:srgbClr val="FFFFFF"/>
                </a:solidFill>
                <a:latin typeface="Calibri"/>
              </a:defRPr>
            </a:pPr>
            <a:r>
              <a:t>EXPANDED PROGRAMME — London • Oxford • Cambridge</a:t>
            </a:r>
          </a:p>
        </p:txBody>
      </p:sp>
      <p:sp>
        <p:nvSpPr>
          <p:cNvPr id="11" name="Rounded Rectangle 10"/>
          <p:cNvSpPr/>
          <p:nvPr/>
        </p:nvSpPr>
        <p:spPr>
          <a:xfrm>
            <a:off x="7589520" y="4718304"/>
            <a:ext cx="3840480" cy="1371600"/>
          </a:xfrm>
          <a:prstGeom prst="roundRect">
            <a:avLst/>
          </a:prstGeom>
          <a:solidFill>
            <a:srgbClr val="142A4E"/>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4855464"/>
            <a:ext cx="3474720" cy="1097280"/>
          </a:xfrm>
          <a:prstGeom prst="rect">
            <a:avLst/>
          </a:prstGeom>
          <a:noFill/>
        </p:spPr>
        <p:txBody>
          <a:bodyPr wrap="square">
            <a:spAutoFit/>
          </a:bodyPr>
          <a:lstStyle/>
          <a:p>
            <a:pPr>
              <a:defRPr sz="2800" b="1">
                <a:solidFill>
                  <a:srgbClr val="D4AF37"/>
                </a:solidFill>
                <a:latin typeface="Georgia"/>
              </a:defRPr>
            </a:pPr>
            <a:r>
              <a:t>3 HUBS</a:t>
            </a:r>
          </a:p>
          <a:p>
            <a:pPr>
              <a:defRPr sz="1100" b="1">
                <a:solidFill>
                  <a:srgbClr val="FFFFFF"/>
                </a:solidFill>
                <a:latin typeface="Calibri"/>
              </a:defRPr>
            </a:pPr>
            <a:r>
              <a:t>WORLD TOP UNIVERSITIES — Oxford, Cambridge &amp; Imperial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D4AF37"/>
                </a:solidFill>
                <a:latin typeface="Georgia"/>
              </a:defRPr>
            </a:pPr>
            <a:r>
              <a:t>GLOBAL INDIAN BUSINESS EXCELLENCE AWARDS 2026</a:t>
            </a:r>
          </a:p>
          <a:p>
            <a:pPr>
              <a:defRPr sz="2600" b="1">
                <a:solidFill>
                  <a:srgbClr val="FFFFFF"/>
                </a:solidFill>
                <a:latin typeface="Calibri"/>
              </a:defRPr>
            </a:pPr>
            <a:r>
              <a:t>5-Day Executive Programme Itinerary (5–9 Nov 2026)</a:t>
            </a:r>
          </a:p>
        </p:txBody>
      </p:sp>
      <p:sp>
        <p:nvSpPr>
          <p:cNvPr id="4" name="Rectangle 3"/>
          <p:cNvSpPr/>
          <p:nvPr/>
        </p:nvSpPr>
        <p:spPr>
          <a:xfrm>
            <a:off x="731520" y="1371600"/>
            <a:ext cx="16459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066543" cy="4480560"/>
          </a:xfrm>
          <a:prstGeom prst="roundRect">
            <a:avLst/>
          </a:prstGeom>
          <a:solidFill>
            <a:srgbClr val="0C1C36"/>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874520"/>
            <a:ext cx="1737359" cy="4023360"/>
          </a:xfrm>
          <a:prstGeom prst="rect">
            <a:avLst/>
          </a:prstGeom>
          <a:noFill/>
        </p:spPr>
        <p:txBody>
          <a:bodyPr wrap="square">
            <a:spAutoFit/>
          </a:bodyPr>
          <a:lstStyle/>
          <a:p>
            <a:pPr>
              <a:spcAft>
                <a:spcPts val="200"/>
              </a:spcAft>
              <a:defRPr sz="1600" b="1">
                <a:solidFill>
                  <a:srgbClr val="D4AF37"/>
                </a:solidFill>
                <a:latin typeface="Georgia"/>
              </a:defRPr>
            </a:pPr>
            <a:r>
              <a:t>DAY 1</a:t>
            </a:r>
          </a:p>
          <a:p>
            <a:pPr>
              <a:spcAft>
                <a:spcPts val="800"/>
              </a:spcAft>
              <a:defRPr sz="1200" b="1">
                <a:solidFill>
                  <a:srgbClr val="B4C3D7"/>
                </a:solidFill>
                <a:latin typeface="Calibri"/>
              </a:defRPr>
            </a:pPr>
            <a:r>
              <a:t>5 NOV 2026</a:t>
            </a:r>
          </a:p>
          <a:p>
            <a:pPr>
              <a:spcAft>
                <a:spcPts val="1000"/>
              </a:spcAft>
              <a:defRPr sz="1300" b="1">
                <a:solidFill>
                  <a:srgbClr val="FFFFFF"/>
                </a:solidFill>
                <a:latin typeface="Calibri"/>
              </a:defRPr>
            </a:pPr>
            <a:r>
              <a:t>📍 House of Commons</a:t>
            </a:r>
          </a:p>
          <a:p>
            <a:pPr>
              <a:defRPr sz="1100">
                <a:solidFill>
                  <a:srgbClr val="B4C3D7"/>
                </a:solidFill>
                <a:latin typeface="Calibri"/>
              </a:defRPr>
            </a:pPr>
            <a:r>
              <a:t>Global Indian Business Excellence Awards &amp; Executive Networking Reception at the British Parliament.</a:t>
            </a:r>
          </a:p>
        </p:txBody>
      </p:sp>
      <p:sp>
        <p:nvSpPr>
          <p:cNvPr id="7" name="Rounded Rectangle 6"/>
          <p:cNvSpPr/>
          <p:nvPr/>
        </p:nvSpPr>
        <p:spPr>
          <a:xfrm>
            <a:off x="2935224" y="1645920"/>
            <a:ext cx="2066543" cy="4480560"/>
          </a:xfrm>
          <a:prstGeom prst="roundRect">
            <a:avLst/>
          </a:prstGeom>
          <a:solidFill>
            <a:srgbClr val="0C1C36"/>
          </a:solidFill>
          <a:ln w="19050">
            <a:solidFill>
              <a:srgbClr val="284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99816" y="1874520"/>
            <a:ext cx="1737359" cy="4023360"/>
          </a:xfrm>
          <a:prstGeom prst="rect">
            <a:avLst/>
          </a:prstGeom>
          <a:noFill/>
        </p:spPr>
        <p:txBody>
          <a:bodyPr wrap="square">
            <a:spAutoFit/>
          </a:bodyPr>
          <a:lstStyle/>
          <a:p>
            <a:pPr>
              <a:spcAft>
                <a:spcPts val="200"/>
              </a:spcAft>
              <a:defRPr sz="1600" b="1">
                <a:solidFill>
                  <a:srgbClr val="FFFFFF"/>
                </a:solidFill>
                <a:latin typeface="Georgia"/>
              </a:defRPr>
            </a:pPr>
            <a:r>
              <a:t>DAY 2</a:t>
            </a:r>
          </a:p>
          <a:p>
            <a:pPr>
              <a:spcAft>
                <a:spcPts val="800"/>
              </a:spcAft>
              <a:defRPr sz="1200" b="1">
                <a:solidFill>
                  <a:srgbClr val="B4C3D7"/>
                </a:solidFill>
                <a:latin typeface="Calibri"/>
              </a:defRPr>
            </a:pPr>
            <a:r>
              <a:t>6 NOV 2026</a:t>
            </a:r>
          </a:p>
          <a:p>
            <a:pPr>
              <a:spcAft>
                <a:spcPts val="1000"/>
              </a:spcAft>
              <a:defRPr sz="1300" b="1">
                <a:solidFill>
                  <a:srgbClr val="FFFFFF"/>
                </a:solidFill>
                <a:latin typeface="Calibri"/>
              </a:defRPr>
            </a:pPr>
            <a:r>
              <a:t>📍 Central London</a:t>
            </a:r>
          </a:p>
          <a:p>
            <a:pPr>
              <a:defRPr sz="1100">
                <a:solidFill>
                  <a:srgbClr val="B4C3D7"/>
                </a:solidFill>
                <a:latin typeface="Calibri"/>
              </a:defRPr>
            </a:pPr>
            <a:r>
              <a:t>Black Tie Gala Dinner &amp; Executive Networking: Gourmet dining, bilateral trade addresses &amp; strategic dialogue.</a:t>
            </a:r>
          </a:p>
        </p:txBody>
      </p:sp>
      <p:sp>
        <p:nvSpPr>
          <p:cNvPr id="9" name="Rounded Rectangle 8"/>
          <p:cNvSpPr/>
          <p:nvPr/>
        </p:nvSpPr>
        <p:spPr>
          <a:xfrm>
            <a:off x="5138928" y="1645920"/>
            <a:ext cx="2066543" cy="4480560"/>
          </a:xfrm>
          <a:prstGeom prst="roundRect">
            <a:avLst/>
          </a:prstGeom>
          <a:solidFill>
            <a:srgbClr val="0C1C36"/>
          </a:solidFill>
          <a:ln w="19050">
            <a:solidFill>
              <a:srgbClr val="284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1874520"/>
            <a:ext cx="1737359" cy="4023360"/>
          </a:xfrm>
          <a:prstGeom prst="rect">
            <a:avLst/>
          </a:prstGeom>
          <a:noFill/>
        </p:spPr>
        <p:txBody>
          <a:bodyPr wrap="square">
            <a:spAutoFit/>
          </a:bodyPr>
          <a:lstStyle/>
          <a:p>
            <a:pPr>
              <a:spcAft>
                <a:spcPts val="200"/>
              </a:spcAft>
              <a:defRPr sz="1600" b="1">
                <a:solidFill>
                  <a:srgbClr val="F3E5AB"/>
                </a:solidFill>
                <a:latin typeface="Georgia"/>
              </a:defRPr>
            </a:pPr>
            <a:r>
              <a:t>DAY 3</a:t>
            </a:r>
          </a:p>
          <a:p>
            <a:pPr>
              <a:spcAft>
                <a:spcPts val="800"/>
              </a:spcAft>
              <a:defRPr sz="1200" b="1">
                <a:solidFill>
                  <a:srgbClr val="B4C3D7"/>
                </a:solidFill>
                <a:latin typeface="Calibri"/>
              </a:defRPr>
            </a:pPr>
            <a:r>
              <a:t>7 NOV 2026</a:t>
            </a:r>
          </a:p>
          <a:p>
            <a:pPr>
              <a:spcAft>
                <a:spcPts val="1000"/>
              </a:spcAft>
              <a:defRPr sz="1300" b="1">
                <a:solidFill>
                  <a:srgbClr val="FFFFFF"/>
                </a:solidFill>
                <a:latin typeface="Calibri"/>
              </a:defRPr>
            </a:pPr>
            <a:r>
              <a:t>📍 Univ of Oxford</a:t>
            </a:r>
          </a:p>
          <a:p>
            <a:pPr>
              <a:defRPr sz="1100">
                <a:solidFill>
                  <a:srgbClr val="B4C3D7"/>
                </a:solidFill>
                <a:latin typeface="Calibri"/>
              </a:defRPr>
            </a:pPr>
            <a:r>
              <a:t>Oxford Business Leadership Forum &amp; Panel Discussions on global enterprise, tech, and economic policy.</a:t>
            </a:r>
          </a:p>
        </p:txBody>
      </p:sp>
      <p:sp>
        <p:nvSpPr>
          <p:cNvPr id="11" name="Rounded Rectangle 10"/>
          <p:cNvSpPr/>
          <p:nvPr/>
        </p:nvSpPr>
        <p:spPr>
          <a:xfrm>
            <a:off x="7342632" y="1645920"/>
            <a:ext cx="2066543" cy="4480560"/>
          </a:xfrm>
          <a:prstGeom prst="roundRect">
            <a:avLst/>
          </a:prstGeom>
          <a:solidFill>
            <a:srgbClr val="0C1C36"/>
          </a:solidFill>
          <a:ln w="19050">
            <a:solidFill>
              <a:srgbClr val="284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07224" y="1874520"/>
            <a:ext cx="1737359" cy="4023360"/>
          </a:xfrm>
          <a:prstGeom prst="rect">
            <a:avLst/>
          </a:prstGeom>
          <a:noFill/>
        </p:spPr>
        <p:txBody>
          <a:bodyPr wrap="square">
            <a:spAutoFit/>
          </a:bodyPr>
          <a:lstStyle/>
          <a:p>
            <a:pPr>
              <a:spcAft>
                <a:spcPts val="200"/>
              </a:spcAft>
              <a:defRPr sz="1600" b="1">
                <a:solidFill>
                  <a:srgbClr val="FFFFFF"/>
                </a:solidFill>
                <a:latin typeface="Georgia"/>
              </a:defRPr>
            </a:pPr>
            <a:r>
              <a:t>DAY 4</a:t>
            </a:r>
          </a:p>
          <a:p>
            <a:pPr>
              <a:spcAft>
                <a:spcPts val="800"/>
              </a:spcAft>
              <a:defRPr sz="1200" b="1">
                <a:solidFill>
                  <a:srgbClr val="B4C3D7"/>
                </a:solidFill>
                <a:latin typeface="Calibri"/>
              </a:defRPr>
            </a:pPr>
            <a:r>
              <a:t>8 NOV 2026</a:t>
            </a:r>
          </a:p>
          <a:p>
            <a:pPr>
              <a:spcAft>
                <a:spcPts val="1000"/>
              </a:spcAft>
              <a:defRPr sz="1300" b="1">
                <a:solidFill>
                  <a:srgbClr val="FFFFFF"/>
                </a:solidFill>
                <a:latin typeface="Calibri"/>
              </a:defRPr>
            </a:pPr>
            <a:r>
              <a:t>📍 Univ of Cambridge</a:t>
            </a:r>
          </a:p>
          <a:p>
            <a:pPr>
              <a:defRPr sz="1100">
                <a:solidFill>
                  <a:srgbClr val="B4C3D7"/>
                </a:solidFill>
                <a:latin typeface="Calibri"/>
              </a:defRPr>
            </a:pPr>
            <a:r>
              <a:t>University of Cambridge Campus Visit: Deep-tech incubation, spinouts &amp; historic academic immersion.</a:t>
            </a:r>
          </a:p>
        </p:txBody>
      </p:sp>
      <p:sp>
        <p:nvSpPr>
          <p:cNvPr id="13" name="Rounded Rectangle 12"/>
          <p:cNvSpPr/>
          <p:nvPr/>
        </p:nvSpPr>
        <p:spPr>
          <a:xfrm>
            <a:off x="9546336" y="1645920"/>
            <a:ext cx="2066543" cy="4480560"/>
          </a:xfrm>
          <a:prstGeom prst="roundRect">
            <a:avLst/>
          </a:prstGeom>
          <a:solidFill>
            <a:srgbClr val="0C1C36"/>
          </a:solidFill>
          <a:ln w="19050">
            <a:solidFill>
              <a:srgbClr val="284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10928" y="1874520"/>
            <a:ext cx="1737359" cy="4023360"/>
          </a:xfrm>
          <a:prstGeom prst="rect">
            <a:avLst/>
          </a:prstGeom>
          <a:noFill/>
        </p:spPr>
        <p:txBody>
          <a:bodyPr wrap="square">
            <a:spAutoFit/>
          </a:bodyPr>
          <a:lstStyle/>
          <a:p>
            <a:pPr>
              <a:spcAft>
                <a:spcPts val="200"/>
              </a:spcAft>
              <a:defRPr sz="1600" b="1">
                <a:solidFill>
                  <a:srgbClr val="D4AF37"/>
                </a:solidFill>
                <a:latin typeface="Georgia"/>
              </a:defRPr>
            </a:pPr>
            <a:r>
              <a:t>DAY 5</a:t>
            </a:r>
          </a:p>
          <a:p>
            <a:pPr>
              <a:spcAft>
                <a:spcPts val="800"/>
              </a:spcAft>
              <a:defRPr sz="1200" b="1">
                <a:solidFill>
                  <a:srgbClr val="B4C3D7"/>
                </a:solidFill>
                <a:latin typeface="Calibri"/>
              </a:defRPr>
            </a:pPr>
            <a:r>
              <a:t>9 NOV 2026</a:t>
            </a:r>
          </a:p>
          <a:p>
            <a:pPr>
              <a:spcAft>
                <a:spcPts val="1000"/>
              </a:spcAft>
              <a:defRPr sz="1300" b="1">
                <a:solidFill>
                  <a:srgbClr val="FFFFFF"/>
                </a:solidFill>
                <a:latin typeface="Calibri"/>
              </a:defRPr>
            </a:pPr>
            <a:r>
              <a:t>📍 Imperial College</a:t>
            </a:r>
          </a:p>
          <a:p>
            <a:pPr>
              <a:defRPr sz="1100">
                <a:solidFill>
                  <a:srgbClr val="B4C3D7"/>
                </a:solidFill>
                <a:latin typeface="Calibri"/>
              </a:defRPr>
            </a:pPr>
            <a:r>
              <a:t>Imperial College London Innovation &amp; Research Experience: AI, frontier tech &amp; entrepreneurship showcase.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D4AF37"/>
                </a:solidFill>
                <a:latin typeface="Georgia"/>
              </a:defRPr>
            </a:pPr>
            <a:r>
              <a:t>GLOBAL INDIAN BUSINESS EXCELLENCE AWARDS 2026</a:t>
            </a:r>
          </a:p>
          <a:p>
            <a:pPr>
              <a:defRPr sz="2600" b="1">
                <a:solidFill>
                  <a:srgbClr val="FFFFFF"/>
                </a:solidFill>
                <a:latin typeface="Calibri"/>
              </a:defRPr>
            </a:pPr>
            <a:r>
              <a:t>Beyond London: Oxford, Cambridge &amp; Imperial College</a:t>
            </a:r>
          </a:p>
        </p:txBody>
      </p:sp>
      <p:sp>
        <p:nvSpPr>
          <p:cNvPr id="4" name="Rectangle 3"/>
          <p:cNvSpPr/>
          <p:nvPr/>
        </p:nvSpPr>
        <p:spPr>
          <a:xfrm>
            <a:off x="731520" y="1371600"/>
            <a:ext cx="16459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28416" cy="4480560"/>
          </a:xfrm>
          <a:prstGeom prst="roundRect">
            <a:avLst/>
          </a:prstGeom>
          <a:solidFill>
            <a:srgbClr val="0C1C36"/>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71216" cy="3931920"/>
          </a:xfrm>
          <a:prstGeom prst="rect">
            <a:avLst/>
          </a:prstGeom>
          <a:noFill/>
        </p:spPr>
        <p:txBody>
          <a:bodyPr wrap="square">
            <a:spAutoFit/>
          </a:bodyPr>
          <a:lstStyle/>
          <a:p>
            <a:pPr>
              <a:spcAft>
                <a:spcPts val="400"/>
              </a:spcAft>
              <a:defRPr sz="1300" b="1">
                <a:solidFill>
                  <a:srgbClr val="D4AF37"/>
                </a:solidFill>
                <a:latin typeface="Georgia"/>
              </a:defRPr>
            </a:pPr>
            <a:r>
              <a:t>UNIVERSITY OF OXFORD</a:t>
            </a:r>
          </a:p>
          <a:p>
            <a:pPr>
              <a:defRPr sz="1500" b="1">
                <a:solidFill>
                  <a:srgbClr val="FFFFFF"/>
                </a:solidFill>
                <a:latin typeface="Calibri"/>
              </a:defRPr>
            </a:pPr>
            <a:r>
              <a:t>Oxford Business Leadership Forum</a:t>
            </a:r>
          </a:p>
          <a:p>
            <a:pPr>
              <a:spcAft>
                <a:spcPts val="1200"/>
              </a:spcAft>
              <a:defRPr sz="1100">
                <a:solidFill>
                  <a:srgbClr val="F3E5AB"/>
                </a:solidFill>
                <a:latin typeface="Calibri"/>
              </a:defRPr>
            </a:pPr>
            <a:r>
              <a:t>📅 7 November 2026</a:t>
            </a:r>
          </a:p>
          <a:p>
            <a:pPr>
              <a:spcAft>
                <a:spcPts val="600"/>
              </a:spcAft>
              <a:defRPr sz="1200">
                <a:solidFill>
                  <a:srgbClr val="B4C3D7"/>
                </a:solidFill>
                <a:latin typeface="Calibri"/>
              </a:defRPr>
            </a:pPr>
            <a:r>
              <a:t>• High-level panel debates on global trade &amp; geopolitics</a:t>
            </a:r>
          </a:p>
          <a:p>
            <a:pPr>
              <a:spcAft>
                <a:spcPts val="600"/>
              </a:spcAft>
              <a:defRPr sz="1200">
                <a:solidFill>
                  <a:srgbClr val="B4C3D7"/>
                </a:solidFill>
                <a:latin typeface="Calibri"/>
              </a:defRPr>
            </a:pPr>
            <a:r>
              <a:t>• Executive interaction with Oxford scholars &amp; fellows</a:t>
            </a:r>
          </a:p>
          <a:p>
            <a:pPr>
              <a:spcAft>
                <a:spcPts val="600"/>
              </a:spcAft>
              <a:defRPr sz="1200">
                <a:solidFill>
                  <a:srgbClr val="B4C3D7"/>
                </a:solidFill>
                <a:latin typeface="Calibri"/>
              </a:defRPr>
            </a:pPr>
            <a:r>
              <a:t>• Historic collegiate walking tour &amp; private dining options</a:t>
            </a:r>
          </a:p>
        </p:txBody>
      </p:sp>
      <p:sp>
        <p:nvSpPr>
          <p:cNvPr id="7" name="Rounded Rectangle 6"/>
          <p:cNvSpPr/>
          <p:nvPr/>
        </p:nvSpPr>
        <p:spPr>
          <a:xfrm>
            <a:off x="4425696" y="1645920"/>
            <a:ext cx="3328416" cy="448056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1920240"/>
            <a:ext cx="2871216" cy="3931920"/>
          </a:xfrm>
          <a:prstGeom prst="rect">
            <a:avLst/>
          </a:prstGeom>
          <a:noFill/>
        </p:spPr>
        <p:txBody>
          <a:bodyPr wrap="square">
            <a:spAutoFit/>
          </a:bodyPr>
          <a:lstStyle/>
          <a:p>
            <a:pPr>
              <a:spcAft>
                <a:spcPts val="400"/>
              </a:spcAft>
              <a:defRPr sz="1300" b="1">
                <a:solidFill>
                  <a:srgbClr val="D4AF37"/>
                </a:solidFill>
                <a:latin typeface="Georgia"/>
              </a:defRPr>
            </a:pPr>
            <a:r>
              <a:t>UNIVERSITY OF CAMBRIDGE</a:t>
            </a:r>
          </a:p>
          <a:p>
            <a:pPr>
              <a:defRPr sz="1500" b="1">
                <a:solidFill>
                  <a:srgbClr val="FFFFFF"/>
                </a:solidFill>
                <a:latin typeface="Calibri"/>
              </a:defRPr>
            </a:pPr>
            <a:r>
              <a:t>Deep-Tech &amp; Campus Immersion</a:t>
            </a:r>
          </a:p>
          <a:p>
            <a:pPr>
              <a:spcAft>
                <a:spcPts val="1200"/>
              </a:spcAft>
              <a:defRPr sz="1100">
                <a:solidFill>
                  <a:srgbClr val="F3E5AB"/>
                </a:solidFill>
                <a:latin typeface="Calibri"/>
              </a:defRPr>
            </a:pPr>
            <a:r>
              <a:t>📅 8 November 2026</a:t>
            </a:r>
          </a:p>
          <a:p>
            <a:pPr>
              <a:spcAft>
                <a:spcPts val="600"/>
              </a:spcAft>
              <a:defRPr sz="1200">
                <a:solidFill>
                  <a:srgbClr val="B4C3D7"/>
                </a:solidFill>
                <a:latin typeface="Calibri"/>
              </a:defRPr>
            </a:pPr>
            <a:r>
              <a:t>• Cambridge Cluster &amp; enterprise spinout ecosystem</a:t>
            </a:r>
          </a:p>
          <a:p>
            <a:pPr>
              <a:spcAft>
                <a:spcPts val="600"/>
              </a:spcAft>
              <a:defRPr sz="1200">
                <a:solidFill>
                  <a:srgbClr val="B4C3D7"/>
                </a:solidFill>
                <a:latin typeface="Calibri"/>
              </a:defRPr>
            </a:pPr>
            <a:r>
              <a:t>• Bridging academic scientific research with capital</a:t>
            </a:r>
          </a:p>
          <a:p>
            <a:pPr>
              <a:spcAft>
                <a:spcPts val="600"/>
              </a:spcAft>
              <a:defRPr sz="1200">
                <a:solidFill>
                  <a:srgbClr val="B4C3D7"/>
                </a:solidFill>
                <a:latin typeface="Calibri"/>
              </a:defRPr>
            </a:pPr>
            <a:r>
              <a:t>• Exclusive tour of historic Cambridge collegiate grounds</a:t>
            </a:r>
          </a:p>
        </p:txBody>
      </p:sp>
      <p:sp>
        <p:nvSpPr>
          <p:cNvPr id="9" name="Rounded Rectangle 8"/>
          <p:cNvSpPr/>
          <p:nvPr/>
        </p:nvSpPr>
        <p:spPr>
          <a:xfrm>
            <a:off x="8119872" y="1645920"/>
            <a:ext cx="3328416" cy="448056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1920240"/>
            <a:ext cx="2871216" cy="3931920"/>
          </a:xfrm>
          <a:prstGeom prst="rect">
            <a:avLst/>
          </a:prstGeom>
          <a:noFill/>
        </p:spPr>
        <p:txBody>
          <a:bodyPr wrap="square">
            <a:spAutoFit/>
          </a:bodyPr>
          <a:lstStyle/>
          <a:p>
            <a:pPr>
              <a:spcAft>
                <a:spcPts val="400"/>
              </a:spcAft>
              <a:defRPr sz="1300" b="1">
                <a:solidFill>
                  <a:srgbClr val="D4AF37"/>
                </a:solidFill>
                <a:latin typeface="Georgia"/>
              </a:defRPr>
            </a:pPr>
            <a:r>
              <a:t>IMPERIAL COLLEGE LONDON</a:t>
            </a:r>
          </a:p>
          <a:p>
            <a:pPr>
              <a:defRPr sz="1500" b="1">
                <a:solidFill>
                  <a:srgbClr val="FFFFFF"/>
                </a:solidFill>
                <a:latin typeface="Calibri"/>
              </a:defRPr>
            </a:pPr>
            <a:r>
              <a:t>Innovation &amp; Research Showcase</a:t>
            </a:r>
          </a:p>
          <a:p>
            <a:pPr>
              <a:spcAft>
                <a:spcPts val="1200"/>
              </a:spcAft>
              <a:defRPr sz="1100">
                <a:solidFill>
                  <a:srgbClr val="F3E5AB"/>
                </a:solidFill>
                <a:latin typeface="Calibri"/>
              </a:defRPr>
            </a:pPr>
            <a:r>
              <a:t>📅 9 November 2026</a:t>
            </a:r>
          </a:p>
          <a:p>
            <a:pPr>
              <a:spcAft>
                <a:spcPts val="600"/>
              </a:spcAft>
              <a:defRPr sz="1200">
                <a:solidFill>
                  <a:srgbClr val="B4C3D7"/>
                </a:solidFill>
                <a:latin typeface="Calibri"/>
              </a:defRPr>
            </a:pPr>
            <a:r>
              <a:t>• Focus on Artificial Intelligence, MedTech &amp; CleanTech</a:t>
            </a:r>
          </a:p>
          <a:p>
            <a:pPr>
              <a:spcAft>
                <a:spcPts val="600"/>
              </a:spcAft>
              <a:defRPr sz="1200">
                <a:solidFill>
                  <a:srgbClr val="B4C3D7"/>
                </a:solidFill>
                <a:latin typeface="Calibri"/>
              </a:defRPr>
            </a:pPr>
            <a:r>
              <a:t>• Executive briefing at Imperial Enterprise Hub</a:t>
            </a:r>
          </a:p>
          <a:p>
            <a:pPr>
              <a:spcAft>
                <a:spcPts val="600"/>
              </a:spcAft>
              <a:defRPr sz="1200">
                <a:solidFill>
                  <a:srgbClr val="B4C3D7"/>
                </a:solidFill>
                <a:latin typeface="Calibri"/>
              </a:defRPr>
            </a:pPr>
            <a:r>
              <a:t>• Commercialisation avenues for Indo-UK partnerships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D4AF37"/>
                </a:solidFill>
                <a:latin typeface="Georgia"/>
              </a:defRPr>
            </a:pPr>
            <a:r>
              <a:t>GLOBAL INDIAN BUSINESS EXCELLENCE AWARDS 2026</a:t>
            </a:r>
          </a:p>
          <a:p>
            <a:pPr>
              <a:defRPr sz="2600" b="1">
                <a:solidFill>
                  <a:srgbClr val="FFFFFF"/>
                </a:solidFill>
                <a:latin typeface="Calibri"/>
              </a:defRPr>
            </a:pPr>
            <a:r>
              <a:t>Executive Delegate Package &amp; Deliverables</a:t>
            </a:r>
          </a:p>
        </p:txBody>
      </p:sp>
      <p:sp>
        <p:nvSpPr>
          <p:cNvPr id="4" name="Rectangle 3"/>
          <p:cNvSpPr/>
          <p:nvPr/>
        </p:nvSpPr>
        <p:spPr>
          <a:xfrm>
            <a:off x="731520" y="1371600"/>
            <a:ext cx="16459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28416" cy="201168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20"/>
            <a:ext cx="2871216" cy="1554480"/>
          </a:xfrm>
          <a:prstGeom prst="rect">
            <a:avLst/>
          </a:prstGeom>
          <a:noFill/>
        </p:spPr>
        <p:txBody>
          <a:bodyPr wrap="square">
            <a:spAutoFit/>
          </a:bodyPr>
          <a:lstStyle/>
          <a:p>
            <a:pPr>
              <a:spcAft>
                <a:spcPts val="800"/>
              </a:spcAft>
              <a:defRPr sz="1500" b="1">
                <a:solidFill>
                  <a:srgbClr val="D4AF37"/>
                </a:solidFill>
                <a:latin typeface="Georgia"/>
              </a:defRPr>
            </a:pPr>
            <a:r>
              <a:t>✦ Executive Delegate Badge</a:t>
            </a:r>
          </a:p>
          <a:p>
            <a:pPr>
              <a:defRPr sz="1200">
                <a:solidFill>
                  <a:srgbClr val="B4C3D7"/>
                </a:solidFill>
                <a:latin typeface="Calibri"/>
              </a:defRPr>
            </a:pPr>
            <a:r>
              <a:t>Accredited credentials granting full entry to official sessions, forums, and private transports.</a:t>
            </a:r>
          </a:p>
        </p:txBody>
      </p:sp>
      <p:sp>
        <p:nvSpPr>
          <p:cNvPr id="7" name="Rounded Rectangle 6"/>
          <p:cNvSpPr/>
          <p:nvPr/>
        </p:nvSpPr>
        <p:spPr>
          <a:xfrm>
            <a:off x="4425696" y="1645920"/>
            <a:ext cx="3328416" cy="201168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1874520"/>
            <a:ext cx="2871216" cy="1554480"/>
          </a:xfrm>
          <a:prstGeom prst="rect">
            <a:avLst/>
          </a:prstGeom>
          <a:noFill/>
        </p:spPr>
        <p:txBody>
          <a:bodyPr wrap="square">
            <a:spAutoFit/>
          </a:bodyPr>
          <a:lstStyle/>
          <a:p>
            <a:pPr>
              <a:spcAft>
                <a:spcPts val="800"/>
              </a:spcAft>
              <a:defRPr sz="1500" b="1">
                <a:solidFill>
                  <a:srgbClr val="FFFFFF"/>
                </a:solidFill>
                <a:latin typeface="Georgia"/>
              </a:defRPr>
            </a:pPr>
            <a:r>
              <a:t>✦ Parliamentary Awards Access</a:t>
            </a:r>
          </a:p>
          <a:p>
            <a:pPr>
              <a:defRPr sz="1200">
                <a:solidFill>
                  <a:srgbClr val="B4C3D7"/>
                </a:solidFill>
                <a:latin typeface="Calibri"/>
              </a:defRPr>
            </a:pPr>
            <a:r>
              <a:t>Official organiser nomination for entry into the House of Commons Awards &amp; Reception.</a:t>
            </a:r>
          </a:p>
        </p:txBody>
      </p:sp>
      <p:sp>
        <p:nvSpPr>
          <p:cNvPr id="9" name="Rounded Rectangle 8"/>
          <p:cNvSpPr/>
          <p:nvPr/>
        </p:nvSpPr>
        <p:spPr>
          <a:xfrm>
            <a:off x="8119872" y="1645920"/>
            <a:ext cx="3328416" cy="201168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1874520"/>
            <a:ext cx="2871216" cy="1554480"/>
          </a:xfrm>
          <a:prstGeom prst="rect">
            <a:avLst/>
          </a:prstGeom>
          <a:noFill/>
        </p:spPr>
        <p:txBody>
          <a:bodyPr wrap="square">
            <a:spAutoFit/>
          </a:bodyPr>
          <a:lstStyle/>
          <a:p>
            <a:pPr>
              <a:spcAft>
                <a:spcPts val="800"/>
              </a:spcAft>
              <a:defRPr sz="1500" b="1">
                <a:solidFill>
                  <a:srgbClr val="F3E5AB"/>
                </a:solidFill>
                <a:latin typeface="Georgia"/>
              </a:defRPr>
            </a:pPr>
            <a:r>
              <a:t>✦ Black Tie Gala Dinner</a:t>
            </a:r>
          </a:p>
          <a:p>
            <a:pPr>
              <a:defRPr sz="1200">
                <a:solidFill>
                  <a:srgbClr val="B4C3D7"/>
                </a:solidFill>
                <a:latin typeface="Calibri"/>
              </a:defRPr>
            </a:pPr>
            <a:r>
              <a:t>Seat at the prestigious central London Gala Dinner with gourmet multi-course hospitality.</a:t>
            </a:r>
          </a:p>
        </p:txBody>
      </p:sp>
      <p:sp>
        <p:nvSpPr>
          <p:cNvPr id="11" name="Rounded Rectangle 10"/>
          <p:cNvSpPr/>
          <p:nvPr/>
        </p:nvSpPr>
        <p:spPr>
          <a:xfrm>
            <a:off x="731520" y="3931920"/>
            <a:ext cx="3328416" cy="201168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60520"/>
            <a:ext cx="2871216" cy="1554480"/>
          </a:xfrm>
          <a:prstGeom prst="rect">
            <a:avLst/>
          </a:prstGeom>
          <a:noFill/>
        </p:spPr>
        <p:txBody>
          <a:bodyPr wrap="square">
            <a:spAutoFit/>
          </a:bodyPr>
          <a:lstStyle/>
          <a:p>
            <a:pPr>
              <a:spcAft>
                <a:spcPts val="800"/>
              </a:spcAft>
              <a:defRPr sz="1500" b="1">
                <a:solidFill>
                  <a:srgbClr val="FFFFFF"/>
                </a:solidFill>
                <a:latin typeface="Georgia"/>
              </a:defRPr>
            </a:pPr>
            <a:r>
              <a:t>✦ Academic Forums Pass</a:t>
            </a:r>
          </a:p>
          <a:p>
            <a:pPr>
              <a:defRPr sz="1200">
                <a:solidFill>
                  <a:srgbClr val="B4C3D7"/>
                </a:solidFill>
                <a:latin typeface="Calibri"/>
              </a:defRPr>
            </a:pPr>
            <a:r>
              <a:t>Full delegation access to University of Oxford, Cambridge, and Imperial College experiences.</a:t>
            </a:r>
          </a:p>
        </p:txBody>
      </p:sp>
      <p:sp>
        <p:nvSpPr>
          <p:cNvPr id="13" name="Rounded Rectangle 12"/>
          <p:cNvSpPr/>
          <p:nvPr/>
        </p:nvSpPr>
        <p:spPr>
          <a:xfrm>
            <a:off x="4425696" y="3931920"/>
            <a:ext cx="3328416" cy="201168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4296" y="4160520"/>
            <a:ext cx="2871216" cy="1554480"/>
          </a:xfrm>
          <a:prstGeom prst="rect">
            <a:avLst/>
          </a:prstGeom>
          <a:noFill/>
        </p:spPr>
        <p:txBody>
          <a:bodyPr wrap="square">
            <a:spAutoFit/>
          </a:bodyPr>
          <a:lstStyle/>
          <a:p>
            <a:pPr>
              <a:spcAft>
                <a:spcPts val="800"/>
              </a:spcAft>
              <a:defRPr sz="1500" b="1">
                <a:solidFill>
                  <a:srgbClr val="D4AF37"/>
                </a:solidFill>
                <a:latin typeface="Georgia"/>
              </a:defRPr>
            </a:pPr>
            <a:r>
              <a:t>✦ Delegate Welcome Kit</a:t>
            </a:r>
          </a:p>
          <a:p>
            <a:pPr>
              <a:defRPr sz="1200">
                <a:solidFill>
                  <a:srgbClr val="B4C3D7"/>
                </a:solidFill>
                <a:latin typeface="Calibri"/>
              </a:defRPr>
            </a:pPr>
            <a:r>
              <a:t>Curated luxury delegate stationery, commemorative executive mementos &amp; summit briefcase.</a:t>
            </a:r>
          </a:p>
        </p:txBody>
      </p:sp>
      <p:sp>
        <p:nvSpPr>
          <p:cNvPr id="15" name="Rounded Rectangle 14"/>
          <p:cNvSpPr/>
          <p:nvPr/>
        </p:nvSpPr>
        <p:spPr>
          <a:xfrm>
            <a:off x="8119872" y="3931920"/>
            <a:ext cx="3328416" cy="201168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2" y="4160520"/>
            <a:ext cx="2871216" cy="1554480"/>
          </a:xfrm>
          <a:prstGeom prst="rect">
            <a:avLst/>
          </a:prstGeom>
          <a:noFill/>
        </p:spPr>
        <p:txBody>
          <a:bodyPr wrap="square">
            <a:spAutoFit/>
          </a:bodyPr>
          <a:lstStyle/>
          <a:p>
            <a:pPr>
              <a:spcAft>
                <a:spcPts val="800"/>
              </a:spcAft>
              <a:defRPr sz="1500" b="1">
                <a:solidFill>
                  <a:srgbClr val="FFFFFF"/>
                </a:solidFill>
                <a:latin typeface="Georgia"/>
              </a:defRPr>
            </a:pPr>
            <a:r>
              <a:t>✦ Professional Event Photography</a:t>
            </a:r>
          </a:p>
          <a:p>
            <a:pPr>
              <a:defRPr sz="1200">
                <a:solidFill>
                  <a:srgbClr val="B4C3D7"/>
                </a:solidFill>
                <a:latin typeface="Calibri"/>
              </a:defRPr>
            </a:pPr>
            <a:r>
              <a:t>Complete personal &amp; corporate high-resolution media package by official UK press photographers.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D4AF37"/>
                </a:solidFill>
                <a:latin typeface="Georgia"/>
              </a:defRPr>
            </a:pPr>
            <a:r>
              <a:t>GLOBAL INDIAN BUSINESS EXCELLENCE AWARDS 2026</a:t>
            </a:r>
          </a:p>
          <a:p>
            <a:pPr>
              <a:defRPr sz="2600" b="1">
                <a:solidFill>
                  <a:srgbClr val="FFFFFF"/>
                </a:solidFill>
                <a:latin typeface="Calibri"/>
              </a:defRPr>
            </a:pPr>
            <a:r>
              <a:t>Award Categories &amp; Selection Governance</a:t>
            </a:r>
          </a:p>
        </p:txBody>
      </p:sp>
      <p:sp>
        <p:nvSpPr>
          <p:cNvPr id="4" name="Rectangle 3"/>
          <p:cNvSpPr/>
          <p:nvPr/>
        </p:nvSpPr>
        <p:spPr>
          <a:xfrm>
            <a:off x="731520" y="1371600"/>
            <a:ext cx="16459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6217920" cy="448056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669280" cy="3931920"/>
          </a:xfrm>
          <a:prstGeom prst="rect">
            <a:avLst/>
          </a:prstGeom>
          <a:noFill/>
        </p:spPr>
        <p:txBody>
          <a:bodyPr wrap="square">
            <a:spAutoFit/>
          </a:bodyPr>
          <a:lstStyle/>
          <a:p>
            <a:pPr>
              <a:spcAft>
                <a:spcPts val="1000"/>
              </a:spcAft>
              <a:defRPr sz="1400" b="1">
                <a:solidFill>
                  <a:srgbClr val="D4AF37"/>
                </a:solidFill>
                <a:latin typeface="Georgia"/>
              </a:defRPr>
            </a:pPr>
            <a:r>
              <a:t>CORE RECOGNITION CATEGORIES</a:t>
            </a:r>
          </a:p>
          <a:p>
            <a:pPr>
              <a:spcAft>
                <a:spcPts val="500"/>
              </a:spcAft>
              <a:defRPr sz="1250" b="1">
                <a:solidFill>
                  <a:srgbClr val="FFFFFF"/>
                </a:solidFill>
                <a:latin typeface="Calibri"/>
              </a:defRPr>
            </a:pPr>
            <a:r>
              <a:t>🏆  Global Business Leader of the Year</a:t>
            </a:r>
          </a:p>
          <a:p>
            <a:pPr>
              <a:spcAft>
                <a:spcPts val="500"/>
              </a:spcAft>
              <a:defRPr sz="1250" b="1">
                <a:solidFill>
                  <a:srgbClr val="FFFFFF"/>
                </a:solidFill>
                <a:latin typeface="Calibri"/>
              </a:defRPr>
            </a:pPr>
            <a:r>
              <a:t>🏆  Disruptive Tech Innovator Award</a:t>
            </a:r>
          </a:p>
          <a:p>
            <a:pPr>
              <a:spcAft>
                <a:spcPts val="500"/>
              </a:spcAft>
              <a:defRPr sz="1250" b="1">
                <a:solidFill>
                  <a:srgbClr val="FFFFFF"/>
                </a:solidFill>
                <a:latin typeface="Calibri"/>
              </a:defRPr>
            </a:pPr>
            <a:r>
              <a:t>🏆  Excellence in Cross-Border Trade &amp; Manufacturing</a:t>
            </a:r>
          </a:p>
          <a:p>
            <a:pPr>
              <a:spcAft>
                <a:spcPts val="500"/>
              </a:spcAft>
              <a:defRPr sz="1250" b="1">
                <a:solidFill>
                  <a:srgbClr val="FFFFFF"/>
                </a:solidFill>
                <a:latin typeface="Calibri"/>
              </a:defRPr>
            </a:pPr>
            <a:r>
              <a:t>🏆  Sustainable Enterprise &amp; ESG Leadership</a:t>
            </a:r>
          </a:p>
          <a:p>
            <a:pPr>
              <a:spcAft>
                <a:spcPts val="500"/>
              </a:spcAft>
              <a:defRPr sz="1250" b="1">
                <a:solidFill>
                  <a:srgbClr val="FFFFFF"/>
                </a:solidFill>
                <a:latin typeface="Calibri"/>
              </a:defRPr>
            </a:pPr>
            <a:r>
              <a:t>🏆  Healthcare &amp; Life Sciences Pioneer</a:t>
            </a:r>
          </a:p>
          <a:p>
            <a:pPr>
              <a:spcAft>
                <a:spcPts val="500"/>
              </a:spcAft>
              <a:defRPr sz="1250" b="1">
                <a:solidFill>
                  <a:srgbClr val="FFFFFF"/>
                </a:solidFill>
                <a:latin typeface="Calibri"/>
              </a:defRPr>
            </a:pPr>
            <a:r>
              <a:t>🏆  Next-Gen Entrepreneur of the Year</a:t>
            </a:r>
          </a:p>
          <a:p>
            <a:pPr>
              <a:spcAft>
                <a:spcPts val="500"/>
              </a:spcAft>
              <a:defRPr sz="1250" b="1">
                <a:solidFill>
                  <a:srgbClr val="FFFFFF"/>
                </a:solidFill>
                <a:latin typeface="Calibri"/>
              </a:defRPr>
            </a:pPr>
            <a:r>
              <a:t>🏆  Financial Services &amp; Investment Excellence</a:t>
            </a:r>
          </a:p>
          <a:p>
            <a:pPr>
              <a:spcAft>
                <a:spcPts val="500"/>
              </a:spcAft>
              <a:defRPr sz="1250" b="1">
                <a:solidFill>
                  <a:srgbClr val="FFFFFF"/>
                </a:solidFill>
                <a:latin typeface="Calibri"/>
              </a:defRPr>
            </a:pPr>
            <a:r>
              <a:t>🏆  Women in Global Business Leadership</a:t>
            </a:r>
          </a:p>
        </p:txBody>
      </p:sp>
      <p:sp>
        <p:nvSpPr>
          <p:cNvPr id="7" name="Rounded Rectangle 6"/>
          <p:cNvSpPr/>
          <p:nvPr/>
        </p:nvSpPr>
        <p:spPr>
          <a:xfrm>
            <a:off x="7223760" y="1645920"/>
            <a:ext cx="4206240" cy="4480560"/>
          </a:xfrm>
          <a:prstGeom prst="roundRect">
            <a:avLst/>
          </a:prstGeom>
          <a:solidFill>
            <a:srgbClr val="0C1C36"/>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920240"/>
            <a:ext cx="3657600" cy="3931920"/>
          </a:xfrm>
          <a:prstGeom prst="rect">
            <a:avLst/>
          </a:prstGeom>
          <a:noFill/>
        </p:spPr>
        <p:txBody>
          <a:bodyPr wrap="square">
            <a:spAutoFit/>
          </a:bodyPr>
          <a:lstStyle/>
          <a:p>
            <a:pPr>
              <a:spcAft>
                <a:spcPts val="1000"/>
              </a:spcAft>
              <a:defRPr sz="1400" b="1">
                <a:solidFill>
                  <a:srgbClr val="D4AF37"/>
                </a:solidFill>
                <a:latin typeface="Georgia"/>
              </a:defRPr>
            </a:pPr>
            <a:r>
              <a:t>EVALUATION CRITERIA</a:t>
            </a:r>
          </a:p>
          <a:p>
            <a:pPr>
              <a:spcAft>
                <a:spcPts val="800"/>
              </a:spcAft>
              <a:defRPr sz="1200">
                <a:solidFill>
                  <a:srgbClr val="B4C3D7"/>
                </a:solidFill>
                <a:latin typeface="Calibri"/>
              </a:defRPr>
            </a:pPr>
            <a:r>
              <a:t>✔ Global Footprint &amp; Scalability: Demonstrated cross-border operations and international client reach.</a:t>
            </a:r>
          </a:p>
          <a:p>
            <a:pPr>
              <a:spcAft>
                <a:spcPts val="800"/>
              </a:spcAft>
              <a:defRPr sz="1200">
                <a:solidFill>
                  <a:srgbClr val="B4C3D7"/>
                </a:solidFill>
                <a:latin typeface="Calibri"/>
              </a:defRPr>
            </a:pPr>
            <a:r>
              <a:t>✔ Innovation &amp; Disruption: Pioneering IP, technology adoption, or distinctive business models.</a:t>
            </a:r>
          </a:p>
          <a:p>
            <a:pPr>
              <a:spcAft>
                <a:spcPts val="800"/>
              </a:spcAft>
              <a:defRPr sz="1200">
                <a:solidFill>
                  <a:srgbClr val="B4C3D7"/>
                </a:solidFill>
                <a:latin typeface="Calibri"/>
              </a:defRPr>
            </a:pPr>
            <a:r>
              <a:t>✔ Integrity &amp; Corporate Governance: Exemplary ethical standing, leadership resilience, and ESG compliance.</a:t>
            </a:r>
          </a:p>
          <a:p>
            <a:pPr>
              <a:spcAft>
                <a:spcPts val="800"/>
              </a:spcAft>
              <a:defRPr sz="1200">
                <a:solidFill>
                  <a:srgbClr val="B4C3D7"/>
                </a:solidFill>
                <a:latin typeface="Calibri"/>
              </a:defRPr>
            </a:pPr>
            <a:r>
              <a:t>✔ Peer &amp; Advisory Vetting: Evaluated by the IBN Advisory Committee and external industry luminaries.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D4AF37"/>
                </a:solidFill>
                <a:latin typeface="Georgia"/>
              </a:defRPr>
            </a:pPr>
            <a:r>
              <a:t>GLOBAL INDIAN BUSINESS EXCELLENCE AWARDS 2026</a:t>
            </a:r>
          </a:p>
          <a:p>
            <a:pPr>
              <a:defRPr sz="2600" b="1">
                <a:solidFill>
                  <a:srgbClr val="FFFFFF"/>
                </a:solidFill>
                <a:latin typeface="Calibri"/>
              </a:defRPr>
            </a:pPr>
            <a:r>
              <a:t>Institutional Compliance &amp; Security Protocols</a:t>
            </a:r>
          </a:p>
        </p:txBody>
      </p:sp>
      <p:sp>
        <p:nvSpPr>
          <p:cNvPr id="4" name="Rectangle 3"/>
          <p:cNvSpPr/>
          <p:nvPr/>
        </p:nvSpPr>
        <p:spPr>
          <a:xfrm>
            <a:off x="731520" y="1371600"/>
            <a:ext cx="16459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698480" cy="1920240"/>
          </a:xfrm>
          <a:prstGeom prst="roundRect">
            <a:avLst/>
          </a:prstGeom>
          <a:solidFill>
            <a:srgbClr val="0C1C36"/>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10149840" cy="1554480"/>
          </a:xfrm>
          <a:prstGeom prst="rect">
            <a:avLst/>
          </a:prstGeom>
          <a:noFill/>
        </p:spPr>
        <p:txBody>
          <a:bodyPr wrap="square">
            <a:spAutoFit/>
          </a:bodyPr>
          <a:lstStyle/>
          <a:p>
            <a:pPr>
              <a:spcAft>
                <a:spcPts val="600"/>
              </a:spcAft>
              <a:defRPr sz="1400" b="1">
                <a:solidFill>
                  <a:srgbClr val="D4AF37"/>
                </a:solidFill>
                <a:latin typeface="Georgia"/>
              </a:defRPr>
            </a:pPr>
            <a:r>
              <a:t>OFFICIAL COMPLIANCE &amp; LEGAL NOTICE</a:t>
            </a:r>
          </a:p>
          <a:p>
            <a:pPr>
              <a:defRPr sz="1200">
                <a:solidFill>
                  <a:srgbClr val="FFFFFF"/>
                </a:solidFill>
                <a:latin typeface="Calibri"/>
              </a:defRPr>
            </a:pPr>
            <a:r>
              <a:t>The Global Indian Business Excellence Awards 2026 at the House of Commons, British Parliament, London, is an invitation-only event. Invitations are extended at the sole discretion of the organisers and are subject to venue protocols and capacity. No fee is charged for attendance at the Awards Ceremony, and the invitation is not sold or assigned any monetary value. Delegate fees relate exclusively to the curated IBN Business Leadership Programme, academic forums at Oxford, Cambridge &amp; Imperial, and associated networking activities.</a:t>
            </a:r>
          </a:p>
        </p:txBody>
      </p:sp>
      <p:sp>
        <p:nvSpPr>
          <p:cNvPr id="7" name="Rounded Rectangle 6"/>
          <p:cNvSpPr/>
          <p:nvPr/>
        </p:nvSpPr>
        <p:spPr>
          <a:xfrm>
            <a:off x="731520" y="3840480"/>
            <a:ext cx="5212080" cy="228600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023360"/>
            <a:ext cx="4846320" cy="1920240"/>
          </a:xfrm>
          <a:prstGeom prst="rect">
            <a:avLst/>
          </a:prstGeom>
          <a:noFill/>
        </p:spPr>
        <p:txBody>
          <a:bodyPr wrap="square">
            <a:spAutoFit/>
          </a:bodyPr>
          <a:lstStyle/>
          <a:p>
            <a:pPr>
              <a:spcAft>
                <a:spcPts val="600"/>
              </a:spcAft>
              <a:defRPr sz="1400" b="1">
                <a:solidFill>
                  <a:srgbClr val="F3E5AB"/>
                </a:solidFill>
                <a:latin typeface="Calibri"/>
              </a:defRPr>
            </a:pPr>
            <a:r>
              <a:t>PARLIAMENT SECURITY PROTOCOL</a:t>
            </a:r>
          </a:p>
          <a:p>
            <a:pPr>
              <a:defRPr sz="1150">
                <a:solidFill>
                  <a:srgbClr val="B4C3D7"/>
                </a:solidFill>
                <a:latin typeface="Calibri"/>
              </a:defRPr>
            </a:pPr>
            <a:r>
              <a:t>• Formal photo ID (valid Passport) mandatory at Cromwell Green entrance.</a:t>
            </a:r>
            <a:br/>
            <a:r>
              <a:t>• Advance security clearance required 30 days prior to the summit.</a:t>
            </a:r>
            <a:br/>
            <a:r>
              <a:t>• Dress Code: Business Formal / Parliamentary Lounge Suit / Formal Indian.</a:t>
            </a:r>
          </a:p>
        </p:txBody>
      </p:sp>
      <p:sp>
        <p:nvSpPr>
          <p:cNvPr id="9" name="Rounded Rectangle 8"/>
          <p:cNvSpPr/>
          <p:nvPr/>
        </p:nvSpPr>
        <p:spPr>
          <a:xfrm>
            <a:off x="6217920" y="3840480"/>
            <a:ext cx="5212080" cy="228600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023360"/>
            <a:ext cx="4846320" cy="1920240"/>
          </a:xfrm>
          <a:prstGeom prst="rect">
            <a:avLst/>
          </a:prstGeom>
          <a:noFill/>
        </p:spPr>
        <p:txBody>
          <a:bodyPr wrap="square">
            <a:spAutoFit/>
          </a:bodyPr>
          <a:lstStyle/>
          <a:p>
            <a:pPr>
              <a:spcAft>
                <a:spcPts val="600"/>
              </a:spcAft>
              <a:defRPr sz="1400" b="1">
                <a:solidFill>
                  <a:srgbClr val="F3E5AB"/>
                </a:solidFill>
                <a:latin typeface="Calibri"/>
              </a:defRPr>
            </a:pPr>
            <a:r>
              <a:t>UK VISA &amp; LOGISTICS CONCIERGE</a:t>
            </a:r>
          </a:p>
          <a:p>
            <a:pPr>
              <a:defRPr sz="1150">
                <a:solidFill>
                  <a:srgbClr val="B4C3D7"/>
                </a:solidFill>
                <a:latin typeface="Calibri"/>
              </a:defRPr>
            </a:pPr>
            <a:r>
              <a:t>• Official IBN Visa Support Letters issued upon registration confirmation.</a:t>
            </a:r>
            <a:br/>
            <a:r>
              <a:t>• Dedicated coach transfers between Central London, Oxford &amp; Cambridge.</a:t>
            </a:r>
            <a:br/>
            <a:r>
              <a:t>• Partner 5-star hotel preferential booking links provided to confirmed delegates.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D4AF37"/>
                </a:solidFill>
                <a:latin typeface="Georgia"/>
              </a:defRPr>
            </a:pPr>
            <a:r>
              <a:t>GLOBAL INDIAN BUSINESS EXCELLENCE AWARDS 2026</a:t>
            </a:r>
          </a:p>
          <a:p>
            <a:pPr>
              <a:defRPr sz="2600" b="1">
                <a:solidFill>
                  <a:srgbClr val="FFFFFF"/>
                </a:solidFill>
                <a:latin typeface="Calibri"/>
              </a:defRPr>
            </a:pPr>
            <a:r>
              <a:t>Organising Leadership &amp; Secretariat Contacts</a:t>
            </a:r>
          </a:p>
        </p:txBody>
      </p:sp>
      <p:sp>
        <p:nvSpPr>
          <p:cNvPr id="4" name="Rectangle 3"/>
          <p:cNvSpPr/>
          <p:nvPr/>
        </p:nvSpPr>
        <p:spPr>
          <a:xfrm>
            <a:off x="731520" y="1371600"/>
            <a:ext cx="16459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542032" cy="4389120"/>
          </a:xfrm>
          <a:prstGeom prst="roundRect">
            <a:avLst/>
          </a:prstGeom>
          <a:solidFill>
            <a:srgbClr val="0C1C36"/>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176272" cy="3657600"/>
          </a:xfrm>
          <a:prstGeom prst="rect">
            <a:avLst/>
          </a:prstGeom>
          <a:noFill/>
        </p:spPr>
        <p:txBody>
          <a:bodyPr wrap="square">
            <a:spAutoFit/>
          </a:bodyPr>
          <a:lstStyle/>
          <a:p>
            <a:pPr>
              <a:spcAft>
                <a:spcPts val="200"/>
              </a:spcAft>
              <a:defRPr sz="1300" b="1">
                <a:solidFill>
                  <a:srgbClr val="D4AF37"/>
                </a:solidFill>
                <a:latin typeface="Georgia"/>
              </a:defRPr>
            </a:pPr>
            <a:r>
              <a:t>VELOU SINGARAM</a:t>
            </a:r>
          </a:p>
          <a:p>
            <a:pPr>
              <a:spcAft>
                <a:spcPts val="400"/>
              </a:spcAft>
              <a:defRPr sz="1200" b="1">
                <a:solidFill>
                  <a:srgbClr val="FFFFFF"/>
                </a:solidFill>
                <a:latin typeface="Calibri"/>
              </a:defRPr>
            </a:pPr>
            <a:r>
              <a:t>President</a:t>
            </a:r>
          </a:p>
          <a:p>
            <a:pPr>
              <a:spcAft>
                <a:spcPts val="1200"/>
              </a:spcAft>
              <a:defRPr sz="1100">
                <a:solidFill>
                  <a:srgbClr val="F3E5AB"/>
                </a:solidFill>
                <a:latin typeface="Calibri"/>
              </a:defRPr>
            </a:pPr>
            <a:r>
              <a:t>Indian Business Network</a:t>
            </a:r>
          </a:p>
          <a:p>
            <a:pPr>
              <a:defRPr sz="1100">
                <a:solidFill>
                  <a:srgbClr val="B4C3D7"/>
                </a:solidFill>
                <a:latin typeface="Calibri"/>
              </a:defRPr>
            </a:pPr>
            <a:r>
              <a:t>Overseeing bilateral trade delegations and presidential addresses.</a:t>
            </a:r>
          </a:p>
        </p:txBody>
      </p:sp>
      <p:sp>
        <p:nvSpPr>
          <p:cNvPr id="7" name="Rounded Rectangle 6"/>
          <p:cNvSpPr/>
          <p:nvPr/>
        </p:nvSpPr>
        <p:spPr>
          <a:xfrm>
            <a:off x="3447288" y="1645920"/>
            <a:ext cx="2542032" cy="438912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0168" y="2011680"/>
            <a:ext cx="2176272" cy="3657600"/>
          </a:xfrm>
          <a:prstGeom prst="rect">
            <a:avLst/>
          </a:prstGeom>
          <a:noFill/>
        </p:spPr>
        <p:txBody>
          <a:bodyPr wrap="square">
            <a:spAutoFit/>
          </a:bodyPr>
          <a:lstStyle/>
          <a:p>
            <a:pPr>
              <a:spcAft>
                <a:spcPts val="200"/>
              </a:spcAft>
              <a:defRPr sz="1300" b="1">
                <a:solidFill>
                  <a:srgbClr val="D4AF37"/>
                </a:solidFill>
                <a:latin typeface="Georgia"/>
              </a:defRPr>
            </a:pPr>
            <a:r>
              <a:t>JAYABALAN</a:t>
            </a:r>
          </a:p>
          <a:p>
            <a:pPr>
              <a:spcAft>
                <a:spcPts val="400"/>
              </a:spcAft>
              <a:defRPr sz="1200" b="1">
                <a:solidFill>
                  <a:srgbClr val="FFFFFF"/>
                </a:solidFill>
                <a:latin typeface="Calibri"/>
              </a:defRPr>
            </a:pPr>
            <a:r>
              <a:t>Secretary</a:t>
            </a:r>
          </a:p>
          <a:p>
            <a:pPr>
              <a:spcAft>
                <a:spcPts val="1200"/>
              </a:spcAft>
              <a:defRPr sz="1100">
                <a:solidFill>
                  <a:srgbClr val="F3E5AB"/>
                </a:solidFill>
                <a:latin typeface="Calibri"/>
              </a:defRPr>
            </a:pPr>
            <a:r>
              <a:t>Tel: +44 7960 446339</a:t>
            </a:r>
          </a:p>
          <a:p>
            <a:pPr>
              <a:defRPr sz="1100">
                <a:solidFill>
                  <a:srgbClr val="B4C3D7"/>
                </a:solidFill>
                <a:latin typeface="Calibri"/>
              </a:defRPr>
            </a:pPr>
            <a:r>
              <a:t>Secretariat operations, parliamentary liaison &amp; institutional protocol.</a:t>
            </a:r>
          </a:p>
        </p:txBody>
      </p:sp>
      <p:sp>
        <p:nvSpPr>
          <p:cNvPr id="9" name="Rounded Rectangle 8"/>
          <p:cNvSpPr/>
          <p:nvPr/>
        </p:nvSpPr>
        <p:spPr>
          <a:xfrm>
            <a:off x="6163056" y="1645920"/>
            <a:ext cx="2542032" cy="438912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2011680"/>
            <a:ext cx="2176272" cy="3657600"/>
          </a:xfrm>
          <a:prstGeom prst="rect">
            <a:avLst/>
          </a:prstGeom>
          <a:noFill/>
        </p:spPr>
        <p:txBody>
          <a:bodyPr wrap="square">
            <a:spAutoFit/>
          </a:bodyPr>
          <a:lstStyle/>
          <a:p>
            <a:pPr>
              <a:spcAft>
                <a:spcPts val="200"/>
              </a:spcAft>
              <a:defRPr sz="1300" b="1">
                <a:solidFill>
                  <a:srgbClr val="D4AF37"/>
                </a:solidFill>
                <a:latin typeface="Georgia"/>
              </a:defRPr>
            </a:pPr>
            <a:r>
              <a:t>NAGARAJAN</a:t>
            </a:r>
          </a:p>
          <a:p>
            <a:pPr>
              <a:spcAft>
                <a:spcPts val="400"/>
              </a:spcAft>
              <a:defRPr sz="1200" b="1">
                <a:solidFill>
                  <a:srgbClr val="FFFFFF"/>
                </a:solidFill>
                <a:latin typeface="Calibri"/>
              </a:defRPr>
            </a:pPr>
            <a:r>
              <a:t>Treasurer</a:t>
            </a:r>
          </a:p>
          <a:p>
            <a:pPr>
              <a:spcAft>
                <a:spcPts val="1200"/>
              </a:spcAft>
              <a:defRPr sz="1100">
                <a:solidFill>
                  <a:srgbClr val="F3E5AB"/>
                </a:solidFill>
                <a:latin typeface="Calibri"/>
              </a:defRPr>
            </a:pPr>
            <a:r>
              <a:t>Tel: +44 7383 969604</a:t>
            </a:r>
          </a:p>
          <a:p>
            <a:pPr>
              <a:defRPr sz="1100">
                <a:solidFill>
                  <a:srgbClr val="B4C3D7"/>
                </a:solidFill>
                <a:latin typeface="Calibri"/>
              </a:defRPr>
            </a:pPr>
            <a:r>
              <a:t>Financial governance, corporate sponsorships &amp; delegate accounts.</a:t>
            </a:r>
          </a:p>
        </p:txBody>
      </p:sp>
      <p:sp>
        <p:nvSpPr>
          <p:cNvPr id="11" name="Rounded Rectangle 10"/>
          <p:cNvSpPr/>
          <p:nvPr/>
        </p:nvSpPr>
        <p:spPr>
          <a:xfrm>
            <a:off x="8878824" y="1645920"/>
            <a:ext cx="2542032" cy="4389120"/>
          </a:xfrm>
          <a:prstGeom prst="roundRect">
            <a:avLst/>
          </a:prstGeom>
          <a:solidFill>
            <a:srgbClr val="0C1C36"/>
          </a:solidFill>
          <a:ln w="12700">
            <a:solidFill>
              <a:srgbClr val="1E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61704" y="2011680"/>
            <a:ext cx="2176272" cy="3657600"/>
          </a:xfrm>
          <a:prstGeom prst="rect">
            <a:avLst/>
          </a:prstGeom>
          <a:noFill/>
        </p:spPr>
        <p:txBody>
          <a:bodyPr wrap="square">
            <a:spAutoFit/>
          </a:bodyPr>
          <a:lstStyle/>
          <a:p>
            <a:pPr>
              <a:spcAft>
                <a:spcPts val="200"/>
              </a:spcAft>
              <a:defRPr sz="1300" b="1">
                <a:solidFill>
                  <a:srgbClr val="D4AF37"/>
                </a:solidFill>
                <a:latin typeface="Georgia"/>
              </a:defRPr>
            </a:pPr>
            <a:r>
              <a:t>SUBHA AUSTALEKSHMI</a:t>
            </a:r>
          </a:p>
          <a:p>
            <a:pPr>
              <a:spcAft>
                <a:spcPts val="400"/>
              </a:spcAft>
              <a:defRPr sz="1200" b="1">
                <a:solidFill>
                  <a:srgbClr val="FFFFFF"/>
                </a:solidFill>
                <a:latin typeface="Calibri"/>
              </a:defRPr>
            </a:pPr>
            <a:r>
              <a:t>Event Coordinator</a:t>
            </a:r>
          </a:p>
          <a:p>
            <a:pPr>
              <a:spcAft>
                <a:spcPts val="1200"/>
              </a:spcAft>
              <a:defRPr sz="1100">
                <a:solidFill>
                  <a:srgbClr val="F3E5AB"/>
                </a:solidFill>
                <a:latin typeface="Calibri"/>
              </a:defRPr>
            </a:pPr>
            <a:r>
              <a:t>Tel: +44 7587 260254</a:t>
            </a:r>
          </a:p>
          <a:p>
            <a:pPr>
              <a:defRPr sz="1100">
                <a:solidFill>
                  <a:srgbClr val="B4C3D7"/>
                </a:solidFill>
                <a:latin typeface="Calibri"/>
              </a:defRPr>
            </a:pPr>
            <a:r>
              <a:t>Delegate onboarding, accommodation, visa letters &amp; concierge.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D4AF37"/>
                </a:solidFill>
                <a:latin typeface="Georgia"/>
              </a:defRPr>
            </a:pPr>
            <a:r>
              <a:t>GLOBAL INDIAN BUSINESS EXCELLENCE AWARDS 2026</a:t>
            </a:r>
          </a:p>
          <a:p>
            <a:pPr>
              <a:defRPr sz="2600" b="1">
                <a:solidFill>
                  <a:srgbClr val="FFFFFF"/>
                </a:solidFill>
                <a:latin typeface="Calibri"/>
              </a:defRPr>
            </a:pPr>
            <a:r>
              <a:t>Confirm Your Delegate Participation</a:t>
            </a:r>
          </a:p>
        </p:txBody>
      </p:sp>
      <p:sp>
        <p:nvSpPr>
          <p:cNvPr id="4" name="Rectangle 3"/>
          <p:cNvSpPr/>
          <p:nvPr/>
        </p:nvSpPr>
        <p:spPr>
          <a:xfrm>
            <a:off x="731520" y="1371600"/>
            <a:ext cx="16459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645920" y="1645920"/>
            <a:ext cx="8899855" cy="4389120"/>
          </a:xfrm>
          <a:prstGeom prst="roundRect">
            <a:avLst/>
          </a:prstGeom>
          <a:solidFill>
            <a:srgbClr val="0C1C36"/>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0" y="1920240"/>
            <a:ext cx="8168335" cy="3840480"/>
          </a:xfrm>
          <a:prstGeom prst="rect">
            <a:avLst/>
          </a:prstGeom>
          <a:noFill/>
        </p:spPr>
        <p:txBody>
          <a:bodyPr wrap="square">
            <a:spAutoFit/>
          </a:bodyPr>
          <a:lstStyle/>
          <a:p>
            <a:pPr algn="ctr">
              <a:spcAft>
                <a:spcPts val="1000"/>
              </a:spcAft>
              <a:defRPr sz="1800" b="1">
                <a:solidFill>
                  <a:srgbClr val="D4AF37"/>
                </a:solidFill>
                <a:latin typeface="Georgia"/>
              </a:defRPr>
            </a:pPr>
            <a:r>
              <a:t>STRICTLY LIMITED TO 100 DISTINGUISHED GUESTS</a:t>
            </a:r>
          </a:p>
          <a:p>
            <a:pPr algn="ctr">
              <a:spcAft>
                <a:spcPts val="1800"/>
              </a:spcAft>
              <a:defRPr sz="1300">
                <a:solidFill>
                  <a:srgbClr val="B4C3D7"/>
                </a:solidFill>
                <a:latin typeface="Calibri"/>
              </a:defRPr>
            </a:pPr>
            <a:r>
              <a:t>Due to parliamentary accreditation requirements, registrations will close immediately upon reaching capacity.</a:t>
            </a:r>
          </a:p>
          <a:p>
            <a:pPr>
              <a:spcAft>
                <a:spcPts val="800"/>
              </a:spcAft>
              <a:defRPr sz="1200">
                <a:solidFill>
                  <a:srgbClr val="FFFFFF"/>
                </a:solidFill>
                <a:latin typeface="Calibri"/>
              </a:defRPr>
            </a:pPr>
            <a:r>
              <a:t>✦ Step 1: Submit Registration — Access tally.so/r/NpzrWj to register your executive profile and company credentials.</a:t>
            </a:r>
          </a:p>
          <a:p>
            <a:pPr>
              <a:spcAft>
                <a:spcPts val="800"/>
              </a:spcAft>
              <a:defRPr sz="1200">
                <a:solidFill>
                  <a:srgbClr val="FFFFFF"/>
                </a:solidFill>
                <a:latin typeface="Calibri"/>
              </a:defRPr>
            </a:pPr>
            <a:r>
              <a:t>✦ Step 2: Secretariat Review — IBN Advisory Board reviews eligibility and initiates parliamentary clearance accreditation.</a:t>
            </a:r>
          </a:p>
          <a:p>
            <a:pPr>
              <a:spcAft>
                <a:spcPts val="800"/>
              </a:spcAft>
              <a:defRPr sz="1200">
                <a:solidFill>
                  <a:srgbClr val="FFFFFF"/>
                </a:solidFill>
                <a:latin typeface="Calibri"/>
              </a:defRPr>
            </a:pPr>
            <a:r>
              <a:t>✦ Step 3: Official Delegate Pack — Receive confirmation, visa invitation letter, and personal summit onboarding kit.</a:t>
            </a:r>
          </a:p>
          <a:p>
            <a:pPr algn="ctr">
              <a:spcBef>
                <a:spcPts val="1400"/>
              </a:spcBef>
              <a:defRPr sz="1400" b="1">
                <a:solidFill>
                  <a:srgbClr val="D4AF37"/>
                </a:solidFill>
                <a:latin typeface="Calibri"/>
              </a:defRPr>
            </a:pPr>
            <a:r>
              <a:t>REGISTER TODAY: https://tally.so/r/NpzrWj</a:t>
            </a:r>
            <a:br/>
            <a:r>
              <a:t>Direct Inquiries: events@ibnonline.co.uk | +44 7587 260254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