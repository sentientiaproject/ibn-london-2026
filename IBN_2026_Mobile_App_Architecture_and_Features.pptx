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1300" b="1">
                <a:solidFill>
                  <a:srgbClr val="D4AF37"/>
                </a:solidFill>
                <a:latin typeface="Georgia"/>
              </a:defRPr>
            </a:pPr>
            <a:r>
              <a:t>GLOBAL INDIAN BUSINESS EXCELLENCE AWARDS 2026</a:t>
            </a:r>
          </a:p>
          <a:p>
            <a:pPr algn="ctr">
              <a:spcAft>
                <a:spcPts val="1500"/>
              </a:spcAft>
              <a:defRPr sz="3200" b="1">
                <a:solidFill>
                  <a:srgbClr val="F3E5AB"/>
                </a:solidFill>
                <a:latin typeface="Georgia"/>
              </a:defRPr>
            </a:pPr>
            <a:r>
              <a:t>EVENT MOBILE APPLICATION</a:t>
            </a:r>
            <a:br/>
            <a:r>
              <a:t>FEATURES &amp; ARCHITECTURE SPECIFICATION</a:t>
            </a:r>
          </a:p>
          <a:p>
            <a:pPr algn="ctr">
              <a:spcAft>
                <a:spcPts val="25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 Purpose-Built Digital Companion for 100 C-Suite Global Leaders</a:t>
            </a:r>
            <a:br/>
            <a:r>
              <a:t>House of Commons • Central London • Oxford • Cambridge • Imperial College London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4297680"/>
            <a:ext cx="7436815" cy="100584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4434840"/>
            <a:ext cx="7071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Calibri"/>
              </a:defRPr>
            </a:pPr>
            <a:r>
              <a:t>📱 iOS &amp; ANDROID COMPATIBLE  •  🏛️ BRITISH PARLIAMENT SECURITY READY</a:t>
            </a:r>
          </a:p>
          <a:p>
            <a:pPr algn="ctr">
              <a:defRPr sz="1200">
                <a:solidFill>
                  <a:srgbClr val="B4C3D7"/>
                </a:solidFill>
                <a:latin typeface="Calibri"/>
              </a:defRPr>
            </a:pPr>
            <a:r>
              <a:t>Delegate Management • 5-Day Logistics • Multi-Currency Payments • AI Networking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IBN LONDON 2026 MOBILE APPLICATION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Executive Rationale: Why a Bespoke VIP Platform?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87752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01. DIPLOMATIC SECURITY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House of Commons Access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The House of Commons requires strict advance security accreditation. The app manages biometric KYC, passport verification, and dynamic anti-counterfeit passes.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Georgia"/>
              </a:defRPr>
            </a:pPr>
            <a:r>
              <a:t>02. MULTI-CITY TRANSIT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London, Oxford &amp; Cambridge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Managing 100 VIP delegates across 3 historic cities over 5 days requires real-time coach tracking, itinerary prompts, and location-based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3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3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3E5AB"/>
                </a:solidFill>
                <a:latin typeface="Georgia"/>
              </a:defRPr>
            </a:pPr>
            <a:r>
              <a:t>03. C-SUITE NETWORKING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Privacy-Preserved Corridors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High-profile leaders require verified directories and 1-on-1 meeting scheduling without exposing personal phone numbers or private email addresses.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6296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Georgia"/>
              </a:defRPr>
            </a:pPr>
            <a:r>
              <a:t>04. COMPLIANT BILLING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Transparent Package Allocation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Processes multi-currency corporate payments while maintaining the legally distinct, non-monetary invitation status of the Parliamentary ceremony.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IBN LONDON 2026 MOBILE APPLICATION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Four-Tier Functional 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D4AF37"/>
                </a:solidFill>
                <a:latin typeface="Georgia"/>
              </a:defRPr>
            </a:pPr>
            <a:r>
              <a:t>TIER 1: DELEGATE INTERFACE (iOS &amp; Android)  |  VIP User Touchpoint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Digital Delegate Pass with Apple/Google Wallet integration • Dynamic 5-day multi-city interactive itinerary with dress code prompts • Private C-Suite directory with 1-on-1 meeting scheduler • AI facial-recognition personal photo gallery for immediate downloads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98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TIER 2: CORE OPERATIONAL SERVICES  |  Processing &amp; Business Logic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Security &amp; Accreditation Engine (Passport/KYC verification) • Inter-city transit &amp; luxury coach scheduling module • Multi-currency payment checkout &amp; automated B2B invoicing • Real-time event notification &amp; emergency concierge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41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TIER 3: STAKEHOLDER &amp; VENUE INTEGRATION  |  Institutional Interfaces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British Parliamentary Security manifest generation (House of Commons) • University of Oxford &amp; Cambridge academic session coordination • Imperial College London enterprise lab agenda synchronization • Luxury central London Gala venue table &amp; seating 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84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TIER 4: SECRETARIAT COMMAND CENTER  |  Organiser Control Center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Rapid gate check-in mobile scanner app for event staff • Live delegate headcounts across venues, rooms, and coaches • Segmented VIP push broadcast system (Awardees vs Delegates) • Direct concierge hotline to IBN leadership and coordinators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IBN LONDON 2026 MOBILE APPLICATION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Delegate Credentialing &amp; Parliamentary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4AF37"/>
                </a:solidFill>
                <a:latin typeface="Georgia"/>
              </a:defRPr>
            </a:pPr>
            <a:r>
              <a:t>✦ Parliament Accreditation Portal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Pre-event identity capture formatted to meet British Parliamentary security protocols. Captures legal name matching passport, nationality, and photo.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✦ Live Clearance Tracker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Provides real-time feedback to delegates as their security clearance moves from 'Submitted' to 'Police Cleared' and 'Pass Issued'.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3E5AB"/>
                </a:solidFill>
                <a:latin typeface="Georgia"/>
              </a:defRPr>
            </a:pPr>
            <a:r>
              <a:t>✦ Dynamic Anti-Fraud Pass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Time-synchronized revolving QR code that prevents screenshot sharing and guarantees verified identity at venue 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✦ Apple &amp; Google Wallet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One-tap pass installation directly to iPhone or Android lock screens, configured to automatically appear near Westminster.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4AF37"/>
                </a:solidFill>
                <a:latin typeface="Georgia"/>
              </a:defRPr>
            </a:pPr>
            <a:r>
              <a:t>✦ Credential Tiering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Visual badges distinguishing Award Winners, Executive Delegates, Keynote Speakers, Advisory Committee, and Media.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3931920"/>
            <a:ext cx="3328416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Georgia"/>
              </a:defRPr>
            </a:pPr>
            <a:r>
              <a:t>✦ Visa &amp; Document Vault</a:t>
            </a:r>
          </a:p>
          <a:p>
            <a:pPr>
              <a:defRPr sz="1150">
                <a:solidFill>
                  <a:srgbClr val="B4C3D7"/>
                </a:solidFill>
                <a:latin typeface="Calibri"/>
              </a:defRPr>
            </a:pPr>
            <a:r>
              <a:t>Secure offline repository for official stamped IBN UK Visa Support Letters, hotel confirmations, and transfer vouchers.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IBN LONDON 2026 MOBILE APPLICATION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5-Day Event Logistics &amp; Multi-City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66543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DAY 1: 5 NOV</a:t>
            </a:r>
          </a:p>
          <a:p>
            <a:pPr>
              <a:spcAft>
                <a:spcPts val="600"/>
              </a:spcAft>
              <a:defRPr sz="1200">
                <a:solidFill>
                  <a:srgbClr val="B4C3D7"/>
                </a:solidFill>
                <a:latin typeface="Calibri"/>
              </a:defRPr>
            </a:pPr>
            <a:r>
              <a:t>House of Commons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Awards &amp; Reception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Gate directions to Cromwell Green entrance, security checkpoint guide, and formal ceremony agenda.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35224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9816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Georgia"/>
              </a:defRPr>
            </a:pPr>
            <a:r>
              <a:t>DAY 2: 6 NOV</a:t>
            </a:r>
          </a:p>
          <a:p>
            <a:pPr>
              <a:spcAft>
                <a:spcPts val="600"/>
              </a:spcAft>
              <a:defRPr sz="1200">
                <a:solidFill>
                  <a:srgbClr val="B4C3D7"/>
                </a:solidFill>
                <a:latin typeface="Calibri"/>
              </a:defRPr>
            </a:pPr>
            <a:r>
              <a:t>Central London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Black Tie Gala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Table arrangements, multi-course dining timeline, dress code alerts (Tuxedo/National Formal), and addresses.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E5AB"/>
                </a:solidFill>
                <a:latin typeface="Georgia"/>
              </a:defRPr>
            </a:pPr>
            <a:r>
              <a:t>DAY 3: 7 NOV</a:t>
            </a:r>
          </a:p>
          <a:p>
            <a:pPr>
              <a:spcAft>
                <a:spcPts val="600"/>
              </a:spcAft>
              <a:defRPr sz="1200">
                <a:solidFill>
                  <a:srgbClr val="B4C3D7"/>
                </a:solidFill>
                <a:latin typeface="Calibri"/>
              </a:defRPr>
            </a:pPr>
            <a:r>
              <a:t>Univ of Oxford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Leadership Forum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Oxford coach convoy departure tracker, keynote panel schedule, and live interactive session Q&amp;A/polls.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2632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07224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Georgia"/>
              </a:defRPr>
            </a:pPr>
            <a:r>
              <a:t>DAY 4: 8 NOV</a:t>
            </a:r>
          </a:p>
          <a:p>
            <a:pPr>
              <a:spcAft>
                <a:spcPts val="600"/>
              </a:spcAft>
              <a:defRPr sz="1200">
                <a:solidFill>
                  <a:srgbClr val="B4C3D7"/>
                </a:solidFill>
                <a:latin typeface="Calibri"/>
              </a:defRPr>
            </a:pPr>
            <a:r>
              <a:t>Cambridge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Campus &amp; Deep-Tech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Cambridge departure alerts, deep-tech research hub itinerary, and collegiate walking route guides.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46336" y="1645920"/>
            <a:ext cx="2066543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0928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DAY 5: 9 NOV</a:t>
            </a:r>
          </a:p>
          <a:p>
            <a:pPr>
              <a:spcAft>
                <a:spcPts val="600"/>
              </a:spcAft>
              <a:defRPr sz="1200">
                <a:solidFill>
                  <a:srgbClr val="B4C3D7"/>
                </a:solidFill>
                <a:latin typeface="Calibri"/>
              </a:defRPr>
            </a:pPr>
            <a:r>
              <a:t>Imperial College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Innovation Showcase</a:t>
            </a:r>
          </a:p>
          <a:p>
            <a:pPr>
              <a:defRPr sz="1100">
                <a:solidFill>
                  <a:srgbClr val="B4C3D7"/>
                </a:solidFill>
                <a:latin typeface="Calibri"/>
              </a:defRPr>
            </a:pPr>
            <a:r>
              <a:t>Frontier science &amp; AI venture presentations, networking luncheon, and official closing delegation.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IBN LONDON 2026 MOBILE APPLICATION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Financial Management &amp; B2B Invoicing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✦ Multi-Currency Gateway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Seamless checkout supporting GBP (£), USD ($), EUR (€), and INR (₹). Supports international corporate credit cards, Apple Pay, Google Pay, and Indian UPI / Net Banking.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Automated B2B Invoicing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Instant PDF generation of compliant commercial tax invoices including Corporate Name, GSTIN / Tax ID, and UK VAT details for corporate expense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  <a:latin typeface="Georgia"/>
              </a:defRPr>
            </a:pPr>
            <a:r>
              <a:t>✦ Regulatory Transparency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Itemizes packages exclusively for the 'IBN Business Leadership Programme' (academic sessions, gala hospitality, and transit), maintaining parliamentary non-commercial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Wire Transfer / SWIFT Flow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Enables corporate finance teams to upload official bank transfer or SWIFT/NEFT remittance receipts with automated secretariat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IBN LONDON 2026 MOBILE APPLICATION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Executive Networking &amp; Business Matchmaking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✦ Verified 100-Leader Directory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Private, searchable roster of attending CEOs, investors, and founders. Filterable by industry sector, geographical focus, and investment appetite.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1-on-1 Bilateral Meeting Scheduler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Empowers delegates to request, schedule, and confirm 15-minute private meetings during designated summit networking breaks with built-in agenda sync.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  <a:latin typeface="Georgia"/>
              </a:defRPr>
            </a:pPr>
            <a:r>
              <a:t>✦ Privacy-Protected In-App Chat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Facilitates direct executive messaging within the platform. Mobile numbers and personal email addresses remain shielded unless mutually shared.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Digital Business Card Exchange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Instant peer contact exchange via contactless phone tap (NFC) or badge QR scan, saving directly into mobile phone address books.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IBN LONDON 2026 MOBILE APPLICATION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AI-Powered Photo Experience &amp; Media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583680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6035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D4AF37"/>
                </a:solidFill>
                <a:latin typeface="Georgia"/>
              </a:defRPr>
            </a:pPr>
            <a:r>
              <a:t>SEAMLESS PERSONALIZED MEDIA DISTRIBUTION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1. Photographer Ingestion: Official summit media teams upload thousands of high-res event photos directly from the House of Commons, Gala, and Universities.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2. AI Facial Recognition: Delegates upload a single reference photo during onboarding. The platform automatically indexes and isolates all images containing that delegate.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3. Private 'My Moments' Gallery: Delegates access a personalized, curated gallery containing exclusively their summit moments within hours of session completion.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4. High-Res PR Export: Single-tap download of press-ready, high-resolution RAW/JPEG assets ready for corporate communications and immediate LinkedIn sharing.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45920"/>
            <a:ext cx="3870655" cy="1371600"/>
          </a:xfrm>
          <a:prstGeom prst="roundRect">
            <a:avLst/>
          </a:prstGeom>
          <a:solidFill>
            <a:srgbClr val="142A4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Georgia"/>
              </a:defRPr>
            </a:pPr>
            <a:r>
              <a:t>INSTANT ACCESS</a:t>
            </a:r>
          </a:p>
          <a:p>
            <a:pPr>
              <a:defRPr sz="1150">
                <a:solidFill>
                  <a:srgbClr val="FFFFFF"/>
                </a:solidFill>
                <a:latin typeface="Calibri"/>
              </a:defRPr>
            </a:pPr>
            <a:r>
              <a:t>Zero waiting for manual photographer sorting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182112"/>
            <a:ext cx="3870655" cy="1371600"/>
          </a:xfrm>
          <a:prstGeom prst="roundRect">
            <a:avLst/>
          </a:prstGeom>
          <a:solidFill>
            <a:srgbClr val="142A4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36499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Georgia"/>
              </a:defRPr>
            </a:pPr>
            <a:r>
              <a:t>PRESS-READY</a:t>
            </a:r>
          </a:p>
          <a:p>
            <a:pPr>
              <a:defRPr sz="1150">
                <a:solidFill>
                  <a:srgbClr val="FFFFFF"/>
                </a:solidFill>
                <a:latin typeface="Calibri"/>
              </a:defRPr>
            </a:pPr>
            <a:r>
              <a:t>Full-resolution original print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4718304"/>
            <a:ext cx="3870655" cy="1371600"/>
          </a:xfrm>
          <a:prstGeom prst="roundRect">
            <a:avLst/>
          </a:prstGeom>
          <a:solidFill>
            <a:srgbClr val="142A4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901184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F37"/>
                </a:solidFill>
                <a:latin typeface="Georgia"/>
              </a:defRPr>
            </a:pPr>
            <a:r>
              <a:t>1-CLICK SOCIAL</a:t>
            </a:r>
          </a:p>
          <a:p>
            <a:pPr>
              <a:defRPr sz="1150">
                <a:solidFill>
                  <a:srgbClr val="FFFFFF"/>
                </a:solidFill>
                <a:latin typeface="Calibri"/>
              </a:defRPr>
            </a:pPr>
            <a:r>
              <a:t>Pre-formatted exports for LinkedIn &amp; Instagram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IBN LONDON 2026 MOBILE APPLICATION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Onsite Secretariat Operations &amp; Control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01168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✦ Gate Check-in Scanner App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Dedicated staff mode for mobile phones and tablets to scan delegate QR codes at the House of Commons and Gala doors in under two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45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1874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Live Headcount Dashboard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Real-time visibility into attendance counts inside the House of Commons, banquet halls, and passenger boarding for inter-city coach transfers.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  <a:latin typeface="Georgia"/>
              </a:defRPr>
            </a:pPr>
            <a:r>
              <a:t>✦ Parliament Manifest Export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One-click export of the accredited guest manifest conforming exactly to British Parliamentary Security and Police format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931920"/>
            <a:ext cx="5193792" cy="201168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4160520"/>
            <a:ext cx="4645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✦ Emergency VIP Concierge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Integrated one-touch hotline connecting delegates directly to the IBN Event Coordinator and secretariat leads for instant travel and venue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Georgia"/>
              </a:defRPr>
            </a:pPr>
            <a:r>
              <a:t>IBN LONDON 2026 MOBILE APPLICATION</a:t>
            </a:r>
          </a:p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End-to-End Delegate Lifecycle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645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1: ONBOARDING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Registration &amp; KYC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Profile registration, passport data submission, UK visa letter issuance, and package payment 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2: ACCREDITATION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Parliament Security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Security vetting by authorities, approval notification, and activation of Apple/Google Wallet dynamic 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3" y="1645920"/>
            <a:ext cx="2587752" cy="4480560"/>
          </a:xfrm>
          <a:prstGeom prst="roundRect">
            <a:avLst/>
          </a:prstGeom>
          <a:solidFill>
            <a:srgbClr val="0C1C3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3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3: LIVE EVENT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5-Day Execution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Fast-track QR entry, coach transit navigation, session Q&amp;A participation, and 1-on-1 meeting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1645920"/>
            <a:ext cx="2587752" cy="4480560"/>
          </a:xfrm>
          <a:prstGeom prst="roundRect">
            <a:avLst/>
          </a:prstGeom>
          <a:solidFill>
            <a:srgbClr val="0C1C36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6296" y="1920240"/>
            <a:ext cx="22219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F37"/>
                </a:solidFill>
                <a:latin typeface="Georgia"/>
              </a:defRPr>
            </a:pPr>
            <a:r>
              <a:t>STAGE 4: POST-EVENT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Media &amp; Continuity</a:t>
            </a:r>
          </a:p>
          <a:p>
            <a:pPr>
              <a:defRPr sz="1200">
                <a:solidFill>
                  <a:srgbClr val="B4C3D7"/>
                </a:solidFill>
                <a:latin typeface="Calibri"/>
              </a:defRPr>
            </a:pPr>
            <a:r>
              <a:t>Instant AI photo vault downloads, certificate distribution, and ongoing bilateral directory networking.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