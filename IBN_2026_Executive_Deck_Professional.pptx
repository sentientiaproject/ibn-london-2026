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11480"/>
            <a:ext cx="11368735" cy="6035040"/>
          </a:xfrm>
          <a:prstGeom prst="rect">
            <a:avLst/>
          </a:prstGeom>
          <a:noFill/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ig_ben_t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502920"/>
            <a:ext cx="3931920" cy="5852160"/>
          </a:xfrm>
          <a:prstGeom prst="rect">
            <a:avLst/>
          </a:prstGeom>
        </p:spPr>
      </p:pic>
      <p:pic>
        <p:nvPicPr>
          <p:cNvPr id="6" name="Picture 5" descr="ibn_logo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31520"/>
            <a:ext cx="347472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1645920"/>
            <a:ext cx="6583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D4AF37"/>
                </a:solidFill>
                <a:latin typeface="Georgia"/>
              </a:defRPr>
            </a:pPr>
            <a:r>
              <a:t>GLOBAL INDIAN BUSINESS EXCELLENCE AWARDS 2026</a:t>
            </a:r>
          </a:p>
          <a:p>
            <a:pPr>
              <a:spcAft>
                <a:spcPts val="1200"/>
              </a:spcAft>
              <a:defRPr sz="2800" b="1">
                <a:solidFill>
                  <a:srgbClr val="F3E5AB"/>
                </a:solidFill>
                <a:latin typeface="Georgia"/>
              </a:defRPr>
            </a:pPr>
            <a:r>
              <a:t>EVENT MOBILE APPLICATION</a:t>
            </a:r>
            <a:br/>
            <a:r>
              <a:t>FEATURES &amp; ARCHITECTURE</a:t>
            </a:r>
          </a:p>
          <a:p>
            <a:pPr>
              <a:spcAft>
                <a:spcPts val="2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 Purpose-Built Digital Companion for 100 C-Suite Global Leaders</a:t>
            </a:r>
            <a:br/>
            <a:r>
              <a:t>House of Commons, British Parliament • Oxford • Cambridge • Imperial College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663440"/>
            <a:ext cx="6400800" cy="109728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6035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Calibri"/>
              </a:defRPr>
            </a:pPr>
            <a:r>
              <a:t>🏛️ 5–9 NOVEMBER 2026  •  📱 iOS &amp; ANDROID NATIVE COMPATIBLE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Parliament Security Clearance • 5-Day Logistics • Multi-Currency Payments • AI Matchmaking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GLOBAL INDIAN BUSINESS EXCELLENCE AWARDS 2026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Executive Rationale: Purpose-Built for UHNW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87752" cy="448056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ield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20"/>
            <a:ext cx="6400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606040"/>
            <a:ext cx="222199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01. DIPLOMATIC PROTOCOL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British Parliament Access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The House of Commons requires rigorous advance identity accreditation. The platform secures passport KYC data and delivers anti-counterfeit digital passes.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ield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874520"/>
            <a:ext cx="640080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85032" y="2606040"/>
            <a:ext cx="222199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Georgia"/>
              </a:defRPr>
            </a:pPr>
            <a:r>
              <a:t>02. MULTI-CITY TRANSIT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London, Oxford &amp; Cambridge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Coordinates 100 VIP delegates across 3 world-renowned academic cities over 5 days, featuring coach GPS tracking and real-time itinerary prompts.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3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ield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3" y="1874520"/>
            <a:ext cx="640080" cy="640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55663" y="2606040"/>
            <a:ext cx="222199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3E5AB"/>
                </a:solidFill>
                <a:latin typeface="Georgia"/>
              </a:defRPr>
            </a:pPr>
            <a:r>
              <a:t>03. C-SUITE NETWORKING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Privacy-Preserved Corridors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Empowers high-level leaders to connect, chat, and schedule bilateral 1-on-1 meetings without exposing private phone numbers or personal emails.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3416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ayment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016" y="1874520"/>
            <a:ext cx="640080" cy="640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26296" y="2606040"/>
            <a:ext cx="222199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Georgia"/>
              </a:defRPr>
            </a:pPr>
            <a:r>
              <a:t>04. COMPLIANT BILLING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Transparent Package Invoicing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Automates multi-currency payments and corporate B2B invoicing while maintaining the non-monetary invitation status of the Parliamentary ceremony.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SYSTEM ARCHITECTURE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Functional Architecture: The 4-Tier Operating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yment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10512"/>
            <a:ext cx="731520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1755648"/>
            <a:ext cx="94484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D4AF37"/>
                </a:solidFill>
                <a:latin typeface="Georgia"/>
              </a:defRPr>
            </a:pPr>
            <a:r>
              <a:t>TIER 1: DELEGATE INTERFACE (iOS &amp; Android)  |  VIP User Touchpoint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Dynamic Digital Pass (Apple/Google Wallet) • 5-Day Interactive Itinerary • 1-on-1 Meeting Scheduler • AI Face-Recognition Photo Gallery • Digital Business Card.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0728655" cy="1051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ield_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53512"/>
            <a:ext cx="731520" cy="731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8648"/>
            <a:ext cx="94484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Georgia"/>
              </a:defRPr>
            </a:pPr>
            <a:r>
              <a:t>TIER 2: CORE OPERATIONAL SERVICES  |  Business Logic &amp; Workflows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Parliament Security Accreditation Engine • Inter-City Transit Scheduling • Multi-Currency Gateway &amp; B2B Invoicing • Travel &amp; Visa Document Vault.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ield_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96512"/>
            <a:ext cx="731520" cy="731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4041648"/>
            <a:ext cx="94484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3E5AB"/>
                </a:solidFill>
                <a:latin typeface="Georgia"/>
              </a:defRPr>
            </a:pPr>
            <a:r>
              <a:t>TIER 3: STAKEHOLDER &amp; VENUE INTEGRATION  |  Institutional Interfaces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House of Commons Security Manifest Interface • University of Oxford &amp; Cambridge Session Coordination • Gala Venue VIP Table Management.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10728655" cy="1051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hield_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39512"/>
            <a:ext cx="731520" cy="731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28800" y="5184648"/>
            <a:ext cx="94484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Georgia"/>
              </a:defRPr>
            </a:pPr>
            <a:r>
              <a:t>TIER 4: SECRETARIAT COMMAND CENTER  |  Organiser Control Center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Gate Check-In Mobile Scanner App (&lt;2s access) • Real-Time Attendance Monitoring • Segmented VIP Push Broadcast • 24/7 VIP Concierge Hotline.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FEATURE SPECIFICATION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Delegate Credentialing &amp; Parliamentary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1783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4AF37"/>
                </a:solidFill>
                <a:latin typeface="Georgia"/>
              </a:defRPr>
            </a:pPr>
            <a:r>
              <a:t>Accreditation Portal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Pre-event identity capture formatted to satisfy British Parliamentary security vetting. Verifies legal name matching passport, nationality, and photo.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ield_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182880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2936" y="1783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Georgia"/>
              </a:defRPr>
            </a:pPr>
            <a:r>
              <a:t>Live Clearance Tracker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Real-time status indicators informing delegates when their accreditation moves from 'Submitted' to 'Police Cleared' and 'Pass Issued'.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yment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82880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97112" y="1783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3E5AB"/>
                </a:solidFill>
                <a:latin typeface="Georgia"/>
              </a:defRPr>
            </a:pPr>
            <a:r>
              <a:t>Dynamic Anti-Fraud Pass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Time-synchronized revolving QR code that prevents screenshot sharing and guarantees verified identity at venue gates.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502920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08760" y="4069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Georgia"/>
              </a:defRPr>
            </a:pPr>
            <a:r>
              <a:t>Apple &amp; Google Wallet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One-tap pass installation directly to iPhone or Android lock screens, configured to automatically appear near Westminster.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3931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c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4114800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02936" y="4069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4AF37"/>
                </a:solidFill>
                <a:latin typeface="Georgia"/>
              </a:defRPr>
            </a:pPr>
            <a:r>
              <a:t>Credential Tiers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Visual badges distinguishing Award Winners, Executive Delegates, Keynote Speakers, Advisory Committee, and Media.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3931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ayment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4114800"/>
            <a:ext cx="50292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897112" y="4069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Georgia"/>
              </a:defRPr>
            </a:pPr>
            <a:r>
              <a:t>Visa &amp; Document Vault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Secure offline repository for official stamped IBN UK Visa Support Letters, hotel confirmations, and transfer vouchers.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FEATURE SPECIFICATION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5-Day Event Logistics &amp; Multi-City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66543" cy="448056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17922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Georgia"/>
              </a:defRPr>
            </a:pPr>
            <a:r>
              <a:t>DAY 1: 5 NOV</a:t>
            </a:r>
          </a:p>
          <a:p>
            <a:pPr>
              <a:spcAft>
                <a:spcPts val="400"/>
              </a:spcAft>
              <a:defRPr sz="1100">
                <a:solidFill>
                  <a:srgbClr val="B4C3D7"/>
                </a:solidFill>
                <a:latin typeface="Calibri"/>
              </a:defRPr>
            </a:pPr>
            <a:r>
              <a:t>House of Commons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Awards &amp; Reception</a:t>
            </a:r>
          </a:p>
          <a:p>
            <a:pPr>
              <a:defRPr sz="1050">
                <a:solidFill>
                  <a:srgbClr val="B4C3D7"/>
                </a:solidFill>
                <a:latin typeface="Calibri"/>
              </a:defRPr>
            </a:pPr>
            <a:r>
              <a:t>Cromwell Green gate guidance, security protocol check-in, and formal Parliamentary Awards agenda.</a:t>
            </a:r>
          </a:p>
        </p:txBody>
      </p:sp>
      <p:pic>
        <p:nvPicPr>
          <p:cNvPr id="7" name="Picture 6" descr="commons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212080"/>
            <a:ext cx="1700784" cy="685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935224" y="1645920"/>
            <a:ext cx="2066543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72384" y="1810512"/>
            <a:ext cx="17922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Georgia"/>
              </a:defRPr>
            </a:pPr>
            <a:r>
              <a:t>DAY 2: 6 NOV</a:t>
            </a:r>
          </a:p>
          <a:p>
            <a:pPr>
              <a:spcAft>
                <a:spcPts val="400"/>
              </a:spcAft>
              <a:defRPr sz="1100">
                <a:solidFill>
                  <a:srgbClr val="B4C3D7"/>
                </a:solidFill>
                <a:latin typeface="Calibri"/>
              </a:defRPr>
            </a:pPr>
            <a:r>
              <a:t>Central London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Black Tie Gala</a:t>
            </a:r>
          </a:p>
          <a:p>
            <a:pPr>
              <a:defRPr sz="1050">
                <a:solidFill>
                  <a:srgbClr val="B4C3D7"/>
                </a:solidFill>
                <a:latin typeface="Calibri"/>
              </a:defRPr>
            </a:pPr>
            <a:r>
              <a:t>VIP table allocations, multi-course dining timeline, and Black Tie / Tuxedo attire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38928" y="1645920"/>
            <a:ext cx="2066543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6088" y="1810512"/>
            <a:ext cx="17922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E5AB"/>
                </a:solidFill>
                <a:latin typeface="Georgia"/>
              </a:defRPr>
            </a:pPr>
            <a:r>
              <a:t>DAY 3: 7 NOV</a:t>
            </a:r>
          </a:p>
          <a:p>
            <a:pPr>
              <a:spcAft>
                <a:spcPts val="400"/>
              </a:spcAft>
              <a:defRPr sz="1100">
                <a:solidFill>
                  <a:srgbClr val="B4C3D7"/>
                </a:solidFill>
                <a:latin typeface="Calibri"/>
              </a:defRPr>
            </a:pPr>
            <a:r>
              <a:t>Univ of Oxford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Leadership Forum</a:t>
            </a:r>
          </a:p>
          <a:p>
            <a:pPr>
              <a:defRPr sz="1050">
                <a:solidFill>
                  <a:srgbClr val="B4C3D7"/>
                </a:solidFill>
                <a:latin typeface="Calibri"/>
              </a:defRPr>
            </a:pPr>
            <a:r>
              <a:t>Oxford coach departure tracking, keynote panel schedule, and live interactive session Q&amp;A/polls.</a:t>
            </a:r>
          </a:p>
        </p:txBody>
      </p:sp>
      <p:pic>
        <p:nvPicPr>
          <p:cNvPr id="12" name="Picture 11" descr="oxford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5212080"/>
            <a:ext cx="1700784" cy="685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42632" y="1645920"/>
            <a:ext cx="2066543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1810512"/>
            <a:ext cx="17922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Georgia"/>
              </a:defRPr>
            </a:pPr>
            <a:r>
              <a:t>DAY 4: 8 NOV</a:t>
            </a:r>
          </a:p>
          <a:p>
            <a:pPr>
              <a:spcAft>
                <a:spcPts val="400"/>
              </a:spcAft>
              <a:defRPr sz="1100">
                <a:solidFill>
                  <a:srgbClr val="B4C3D7"/>
                </a:solidFill>
                <a:latin typeface="Calibri"/>
              </a:defRPr>
            </a:pPr>
            <a:r>
              <a:t>Cambridge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Campus &amp; Deep-Tech</a:t>
            </a:r>
          </a:p>
          <a:p>
            <a:pPr>
              <a:defRPr sz="1050">
                <a:solidFill>
                  <a:srgbClr val="B4C3D7"/>
                </a:solidFill>
                <a:latin typeface="Calibri"/>
              </a:defRPr>
            </a:pPr>
            <a:r>
              <a:t>Cambridge departure alerts, deep-tech research hub itinerary, and collegiate walking route guides.</a:t>
            </a:r>
          </a:p>
        </p:txBody>
      </p:sp>
      <p:pic>
        <p:nvPicPr>
          <p:cNvPr id="15" name="Picture 14" descr="cambridge_c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5212080"/>
            <a:ext cx="1700784" cy="6858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546336" y="1645920"/>
            <a:ext cx="2066543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83496" y="1810512"/>
            <a:ext cx="17922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Georgia"/>
              </a:defRPr>
            </a:pPr>
            <a:r>
              <a:t>DAY 5: 9 NOV</a:t>
            </a:r>
          </a:p>
          <a:p>
            <a:pPr>
              <a:spcAft>
                <a:spcPts val="400"/>
              </a:spcAft>
              <a:defRPr sz="1100">
                <a:solidFill>
                  <a:srgbClr val="B4C3D7"/>
                </a:solidFill>
                <a:latin typeface="Calibri"/>
              </a:defRPr>
            </a:pPr>
            <a:r>
              <a:t>Imperial College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Innovation Showcase</a:t>
            </a:r>
          </a:p>
          <a:p>
            <a:pPr>
              <a:defRPr sz="1050">
                <a:solidFill>
                  <a:srgbClr val="B4C3D7"/>
                </a:solidFill>
                <a:latin typeface="Calibri"/>
              </a:defRPr>
            </a:pPr>
            <a:r>
              <a:t>AI venture presentations, enterprise showcase, networking luncheon, and official closing delegation.</a:t>
            </a:r>
          </a:p>
        </p:txBody>
      </p:sp>
      <p:pic>
        <p:nvPicPr>
          <p:cNvPr id="18" name="Picture 17" descr="imperial_cr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9216" y="5212080"/>
            <a:ext cx="1700784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FEATURE SPECIFICATION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Financial Management &amp; B2B Invoicing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93792" cy="201168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yment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2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1640" y="182880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AF37"/>
                </a:solidFill>
                <a:latin typeface="Georgia"/>
              </a:defRPr>
            </a:pPr>
            <a:r>
              <a:t>Multi-Currency Checkout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Seamless checkout supporting British Pounds (£), US Dollars ($), Euros (€), and Indian Rupees (₹). Supports international corporate credit cards, Apple Pay, Google Pay, UPI, and Net Banking.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645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c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874520"/>
            <a:ext cx="594360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14616" y="182880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Automated B2B Tax Invoicing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Instant PDF generation of compliant commercial tax invoices including Corporate Name, GSTIN, and UK VAT details for corporate expense claims.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ield_secu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160520"/>
            <a:ext cx="59436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91640" y="411480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3E5AB"/>
                </a:solidFill>
                <a:latin typeface="Georgia"/>
              </a:defRPr>
            </a:pPr>
            <a:r>
              <a:t>Regulatory Package Transparency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Itemizes packages exclusively for the 'IBN Business Leadership Programme' (academic sessions, gala hospitality, and transit), maintaining parliamentary non-commercial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ayment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4160520"/>
            <a:ext cx="594360" cy="594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14616" y="411480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Wire Transfer / SWIFT Flow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Enables corporate finance teams to upload official bank transfer or SWIFT/NEFT remittance receipts with automated secretariat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FEATURE SPECIFICATION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Executive Networking &amp; Business Matchmaking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2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1640" y="182880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AF37"/>
                </a:solidFill>
                <a:latin typeface="Georgia"/>
              </a:defRPr>
            </a:pPr>
            <a:r>
              <a:t>Verified 100-Leader Directory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Private, searchable roster of attending CEOs, investors, and founders. Filterable by industry sector, geographical focus, and investment appetite.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645920"/>
            <a:ext cx="5193792" cy="201168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ield_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874520"/>
            <a:ext cx="594360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14616" y="182880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1-on-1 Meeting Scheduler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Empowers delegates to request, schedule, and confirm 15-minute private meetings during designated summit networking breaks with built-in agenda sync.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ield_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160520"/>
            <a:ext cx="59436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91640" y="411480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3E5AB"/>
                </a:solidFill>
                <a:latin typeface="Georgia"/>
              </a:defRPr>
            </a:pPr>
            <a:r>
              <a:t>Privacy-Protected In-App Chat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Facilitates direct executive messaging within the platform. Mobile numbers and personal email addresses remain shielded unless mutually shared.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ayment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4160520"/>
            <a:ext cx="594360" cy="594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14616" y="411480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Digital Business Card Exchange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Instant peer contact exchange via contactless phone tap (NFC) or badge QR scan, saving directly into mobile phone address books.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FEATURE SPECIFICATION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AI-Powered Photo Experience &amp; Media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583680" cy="448056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74519"/>
            <a:ext cx="6400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7360" y="1874519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D4AF37"/>
                </a:solidFill>
                <a:latin typeface="Georgia"/>
              </a:defRPr>
            </a:pPr>
            <a:r>
              <a:t>SEAMLESS PERSONALIZED MEDIA DISTRIBUTION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• 1. Photographer Ingestion: Official summit media teams upload thousands of high-res event photos directly from the House of Commons, Gala, and Universities.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• 2. AI Facial Recognition: Delegates upload a single reference selfie during onboarding. The platform automatically indexes and isolates all images containing that delegate.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• 3. Private 'My Moments' Gallery: Delegates access a personalized, curated gallery containing exclusively their summit moments within hours of session completion.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• 4. High-Res PR Export: Single-tap download of press-ready, high-resolution RAW/JPEG assets ready for corporate communications and immediate LinkedIn sharing.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645920"/>
            <a:ext cx="3870655" cy="1371600"/>
          </a:xfrm>
          <a:prstGeom prst="roundRect">
            <a:avLst/>
          </a:prstGeom>
          <a:solidFill>
            <a:srgbClr val="12264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828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Georgia"/>
              </a:defRPr>
            </a:pPr>
            <a:r>
              <a:t>INSTANT ACCESS</a:t>
            </a:r>
          </a:p>
          <a:p>
            <a:pPr>
              <a:defRPr sz="1150">
                <a:solidFill>
                  <a:srgbClr val="FFFFFF"/>
                </a:solidFill>
                <a:latin typeface="Calibri"/>
              </a:defRPr>
            </a:pPr>
            <a:r>
              <a:t>Zero waiting for manual photographer sorting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182112"/>
            <a:ext cx="3870655" cy="1371600"/>
          </a:xfrm>
          <a:prstGeom prst="roundRect">
            <a:avLst/>
          </a:prstGeom>
          <a:solidFill>
            <a:srgbClr val="12264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336499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Georgia"/>
              </a:defRPr>
            </a:pPr>
            <a:r>
              <a:t>PRESS-READY</a:t>
            </a:r>
          </a:p>
          <a:p>
            <a:pPr>
              <a:defRPr sz="1150">
                <a:solidFill>
                  <a:srgbClr val="FFFFFF"/>
                </a:solidFill>
                <a:latin typeface="Calibri"/>
              </a:defRPr>
            </a:pPr>
            <a:r>
              <a:t>Full-resolution original print quality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718304"/>
            <a:ext cx="3870655" cy="1371600"/>
          </a:xfrm>
          <a:prstGeom prst="roundRect">
            <a:avLst/>
          </a:prstGeom>
          <a:solidFill>
            <a:srgbClr val="12264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01184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Georgia"/>
              </a:defRPr>
            </a:pPr>
            <a:r>
              <a:t>1-CLICK SOCIAL</a:t>
            </a:r>
          </a:p>
          <a:p>
            <a:pPr>
              <a:defRPr sz="1150">
                <a:solidFill>
                  <a:srgbClr val="FFFFFF"/>
                </a:solidFill>
                <a:latin typeface="Calibri"/>
              </a:defRPr>
            </a:pPr>
            <a:r>
              <a:t>Pre-formatted exports for LinkedIn &amp; Instagram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OPERATIONAL ARCHITECTURE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Onsite Secretariat Operations &amp; Control Center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93792" cy="201168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ield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2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1640" y="182880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AF37"/>
                </a:solidFill>
                <a:latin typeface="Georgia"/>
              </a:defRPr>
            </a:pPr>
            <a:r>
              <a:t>Gate Check-in Scanner App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Dedicated staff mode for mobile phones and tablets to scan delegate QR codes at the House of Commons and Gala doors in under two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645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ield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1874520"/>
            <a:ext cx="594360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14616" y="182880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Live Headcount Dashboard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Real-time visibility into attendance counts inside the House of Commons, banquet halls, and passenger boarding for inter-city coach transfers.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ield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160520"/>
            <a:ext cx="59436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91640" y="411480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3E5AB"/>
                </a:solidFill>
                <a:latin typeface="Georgia"/>
              </a:defRPr>
            </a:pPr>
            <a:r>
              <a:t>Parliament Manifest Export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One-click export of the accredited guest manifest conforming exactly to British Parliamentary Security and Police format requirements.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ayment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4160520"/>
            <a:ext cx="594360" cy="594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14616" y="411480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Emergency VIP Concierge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Integrated one-touch hotline connecting delegates directly to the IBN Event Coordinator and secretariat leads for instant travel and venue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IBN LEADERSHIP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Organising Leadership &amp; Secretariat Contacts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448056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ortrait_vel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1874520"/>
            <a:ext cx="13716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3383280"/>
            <a:ext cx="22677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D4AF37"/>
                </a:solidFill>
                <a:latin typeface="Georgia"/>
              </a:defRPr>
            </a:pPr>
            <a:r>
              <a:t>VELOU SINGARAM</a:t>
            </a:r>
          </a:p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President</a:t>
            </a:r>
          </a:p>
          <a:p>
            <a:pPr algn="ctr">
              <a:spcAft>
                <a:spcPts val="800"/>
              </a:spcAft>
              <a:defRPr sz="1050">
                <a:solidFill>
                  <a:srgbClr val="F3E5AB"/>
                </a:solidFill>
                <a:latin typeface="Calibri"/>
              </a:defRPr>
            </a:pPr>
            <a:r>
              <a:t>Indian Business Network</a:t>
            </a:r>
          </a:p>
          <a:p>
            <a:pPr algn="ctr">
              <a:defRPr sz="1050">
                <a:solidFill>
                  <a:srgbClr val="B4C3D7"/>
                </a:solidFill>
                <a:latin typeface="Calibri"/>
              </a:defRPr>
            </a:pPr>
            <a:r>
              <a:t>Leading bilateral institutional relations and presidential summit addresses.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45920"/>
            <a:ext cx="254203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ortrait_jayaba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504" y="1874520"/>
            <a:ext cx="137160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84448" y="3383280"/>
            <a:ext cx="22677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D4AF37"/>
                </a:solidFill>
                <a:latin typeface="Georgia"/>
              </a:defRPr>
            </a:pPr>
            <a:r>
              <a:t>JAYABALAN</a:t>
            </a:r>
          </a:p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Secretary</a:t>
            </a:r>
          </a:p>
          <a:p>
            <a:pPr algn="ctr">
              <a:spcAft>
                <a:spcPts val="800"/>
              </a:spcAft>
              <a:defRPr sz="1050">
                <a:solidFill>
                  <a:srgbClr val="F3E5AB"/>
                </a:solidFill>
                <a:latin typeface="Calibri"/>
              </a:defRPr>
            </a:pPr>
            <a:r>
              <a:t>+44 7960 446339</a:t>
            </a:r>
          </a:p>
          <a:p>
            <a:pPr algn="ctr">
              <a:defRPr sz="1050">
                <a:solidFill>
                  <a:srgbClr val="B4C3D7"/>
                </a:solidFill>
                <a:latin typeface="Calibri"/>
              </a:defRPr>
            </a:pPr>
            <a:r>
              <a:t>Parliamentary liaison, secretariat administration, and security protocol accreditation.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645920"/>
            <a:ext cx="254203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ortrait_nagaraj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1874520"/>
            <a:ext cx="1371600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0216" y="3383280"/>
            <a:ext cx="22677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D4AF37"/>
                </a:solidFill>
                <a:latin typeface="Georgia"/>
              </a:defRPr>
            </a:pPr>
            <a:r>
              <a:t>NAGARAJAN</a:t>
            </a:r>
          </a:p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Treasurer</a:t>
            </a:r>
          </a:p>
          <a:p>
            <a:pPr algn="ctr">
              <a:spcAft>
                <a:spcPts val="800"/>
              </a:spcAft>
              <a:defRPr sz="1050">
                <a:solidFill>
                  <a:srgbClr val="F3E5AB"/>
                </a:solidFill>
                <a:latin typeface="Calibri"/>
              </a:defRPr>
            </a:pPr>
            <a:r>
              <a:t>+44 7383 969604</a:t>
            </a:r>
          </a:p>
          <a:p>
            <a:pPr algn="ctr">
              <a:defRPr sz="1050">
                <a:solidFill>
                  <a:srgbClr val="B4C3D7"/>
                </a:solidFill>
                <a:latin typeface="Calibri"/>
              </a:defRPr>
            </a:pPr>
            <a:r>
              <a:t>Financial governance, corporate partner relations, and delegate sponsorship management.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78824" y="1645920"/>
            <a:ext cx="254203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ortrait_subh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1874520"/>
            <a:ext cx="1371600" cy="1371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15984" y="3383280"/>
            <a:ext cx="22677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D4AF37"/>
                </a:solidFill>
                <a:latin typeface="Georgia"/>
              </a:defRPr>
            </a:pPr>
            <a:r>
              <a:t>SUBHA AUSTALEKSHMI</a:t>
            </a:r>
          </a:p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Event Coordinator</a:t>
            </a:r>
          </a:p>
          <a:p>
            <a:pPr algn="ctr">
              <a:spcAft>
                <a:spcPts val="800"/>
              </a:spcAft>
              <a:defRPr sz="1050">
                <a:solidFill>
                  <a:srgbClr val="F3E5AB"/>
                </a:solidFill>
                <a:latin typeface="Calibri"/>
              </a:defRPr>
            </a:pPr>
            <a:r>
              <a:t>+44 7587 260254</a:t>
            </a:r>
          </a:p>
          <a:p>
            <a:pPr algn="ctr">
              <a:defRPr sz="1050">
                <a:solidFill>
                  <a:srgbClr val="B4C3D7"/>
                </a:solidFill>
                <a:latin typeface="Calibri"/>
              </a:defRPr>
            </a:pPr>
            <a:r>
              <a:t>Delegate onboarding, UK visa support letters, accommodation booking, and itinerary concierge.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